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24"/>
  </p:notesMasterIdLst>
  <p:handoutMasterIdLst>
    <p:handoutMasterId r:id="rId25"/>
  </p:handoutMasterIdLst>
  <p:sldIdLst>
    <p:sldId id="267" r:id="rId5"/>
    <p:sldId id="286" r:id="rId6"/>
    <p:sldId id="287" r:id="rId7"/>
    <p:sldId id="290" r:id="rId8"/>
    <p:sldId id="284" r:id="rId9"/>
    <p:sldId id="283" r:id="rId10"/>
    <p:sldId id="280" r:id="rId11"/>
    <p:sldId id="288" r:id="rId12"/>
    <p:sldId id="289" r:id="rId13"/>
    <p:sldId id="292" r:id="rId14"/>
    <p:sldId id="279" r:id="rId15"/>
    <p:sldId id="291" r:id="rId16"/>
    <p:sldId id="293" r:id="rId17"/>
    <p:sldId id="297" r:id="rId18"/>
    <p:sldId id="294" r:id="rId19"/>
    <p:sldId id="295" r:id="rId20"/>
    <p:sldId id="296" r:id="rId21"/>
    <p:sldId id="275" r:id="rId22"/>
    <p:sldId id="25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A0BC-4BCF-49A4-929C-7C1AF548D180}" v="38" dt="2024-11-07T01:54:22.859"/>
  </p1510:revLst>
</p1510:revInfo>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52" autoAdjust="0"/>
  </p:normalViewPr>
  <p:slideViewPr>
    <p:cSldViewPr snapToGrid="0">
      <p:cViewPr varScale="1">
        <p:scale>
          <a:sx n="93" d="100"/>
          <a:sy n="93" d="100"/>
        </p:scale>
        <p:origin x="259" y="7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11/7/2025</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11/7/2025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xmlns=""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1786"/>
            <a:ext cx="12188825" cy="6856214"/>
          </a:xfrm>
          <a:prstGeom prst="rect">
            <a:avLst/>
          </a:prstGeom>
        </p:spPr>
      </p:pic>
      <p:sp>
        <p:nvSpPr>
          <p:cNvPr id="2" name="Title 1"/>
          <p:cNvSpPr>
            <a:spLocks noGrp="1"/>
          </p:cNvSpPr>
          <p:nvPr>
            <p:ph type="ctrTitle"/>
          </p:nvPr>
        </p:nvSpPr>
        <p:spPr>
          <a:xfrm>
            <a:off x="2476500" y="2716272"/>
            <a:ext cx="8683625" cy="2421464"/>
          </a:xfrm>
        </p:spPr>
        <p:txBody>
          <a:bodyPr anchor="b">
            <a:normAutofit/>
          </a:bodyPr>
          <a:lstStyle>
            <a:lvl1pPr algn="r">
              <a:defRPr sz="4800">
                <a:effectLst/>
              </a:defRPr>
            </a:lvl1pPr>
          </a:lstStyle>
          <a:p>
            <a:r>
              <a:rPr lang="en-US" noProof="0"/>
              <a:t>Click to edit Master title style</a:t>
            </a:r>
          </a:p>
        </p:txBody>
      </p:sp>
      <p:sp>
        <p:nvSpPr>
          <p:cNvPr id="3" name="Subtitle 2"/>
          <p:cNvSpPr>
            <a:spLocks noGrp="1"/>
          </p:cNvSpPr>
          <p:nvPr>
            <p:ph type="subTitle" idx="1"/>
          </p:nvPr>
        </p:nvSpPr>
        <p:spPr>
          <a:xfrm>
            <a:off x="2476500" y="5137736"/>
            <a:ext cx="8683625"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984B7D2A-0DF8-424B-9572-B79AEBB2D9DC}" type="datetimeFigureOut">
              <a:rPr lang="en-US" noProof="0" smtClean="0"/>
              <a:t>11/7/2025</a:t>
            </a:fld>
            <a:endParaRPr lang="en-US" noProof="0" dirty="0"/>
          </a:p>
        </p:txBody>
      </p:sp>
      <p:sp>
        <p:nvSpPr>
          <p:cNvPr id="5" name="Footer Placeholder 4"/>
          <p:cNvSpPr>
            <a:spLocks noGrp="1"/>
          </p:cNvSpPr>
          <p:nvPr>
            <p:ph type="ftr" sz="quarter" idx="11"/>
          </p:nvPr>
        </p:nvSpPr>
        <p:spPr>
          <a:xfrm>
            <a:off x="3962399" y="5870575"/>
            <a:ext cx="4893958" cy="377825"/>
          </a:xfrm>
        </p:spPr>
        <p:txBody>
          <a:bodyPr/>
          <a:lstStyle/>
          <a:p>
            <a:r>
              <a:rPr lang="en-US" noProof="0" dirty="0"/>
              <a:t>Add a Footer</a:t>
            </a:r>
          </a:p>
        </p:txBody>
      </p:sp>
      <p:sp>
        <p:nvSpPr>
          <p:cNvPr id="6" name="Slide Number Placeholder 5"/>
          <p:cNvSpPr>
            <a:spLocks noGrp="1"/>
          </p:cNvSpPr>
          <p:nvPr>
            <p:ph type="sldNum" sz="quarter" idx="12"/>
          </p:nvPr>
        </p:nvSpPr>
        <p:spPr>
          <a:xfrm>
            <a:off x="10608958" y="5870575"/>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840914" cy="1260000"/>
          </a:xfrm>
        </p:spPr>
        <p:txBody>
          <a:bodyPr anchor="ctr" anchorCtr="0">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81824"/>
            <a:ext cx="10840914" cy="1032826"/>
          </a:xfrm>
        </p:spPr>
        <p:txBody>
          <a:bodyPr anchor="t" anchorCtr="0">
            <a:no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7" name="Date Placeholder 6"/>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216192"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685799" y="2914650"/>
            <a:ext cx="10840914" cy="502126"/>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7465366"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9548424"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5382308"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3299250"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xmlns=""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1457326" y="995967"/>
            <a:ext cx="6238874" cy="1260000"/>
          </a:xfrm>
        </p:spPr>
        <p:txBody>
          <a:bodyPr anchor="ctr" anchorCtr="0">
            <a:noAutofit/>
          </a:bodyPr>
          <a:lstStyle>
            <a:lvl1pPr algn="r">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085849" y="2255967"/>
            <a:ext cx="6610351" cy="3476618"/>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6657974" y="995968"/>
            <a:ext cx="4848225" cy="1260000"/>
          </a:xfrm>
        </p:spPr>
        <p:txBody>
          <a:bodyPr anchor="ctr" anchorCtr="0">
            <a:normAutofit/>
          </a:bodyPr>
          <a:lstStyle>
            <a:lvl1pPr algn="l">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6657974" y="2255968"/>
            <a:ext cx="4848225" cy="3476617"/>
          </a:xfrm>
        </p:spPr>
        <p:txBody>
          <a:bodyPr anchor="t">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bwMode="white">
          <a:xfrm>
            <a:off x="10571243"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11" name="TextBox 10"/>
          <p:cNvSpPr txBox="1"/>
          <p:nvPr/>
        </p:nvSpPr>
        <p:spPr bwMode="white">
          <a:xfrm>
            <a:off x="100262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2" name="Title 1"/>
          <p:cNvSpPr>
            <a:spLocks noGrp="1"/>
          </p:cNvSpPr>
          <p:nvPr>
            <p:ph type="title" hasCustomPrompt="1"/>
          </p:nvPr>
        </p:nvSpPr>
        <p:spPr>
          <a:xfrm>
            <a:off x="1320801" y="609601"/>
            <a:ext cx="9550399" cy="2743199"/>
          </a:xfrm>
        </p:spPr>
        <p:txBody>
          <a:bodyPr anchor="ctr">
            <a:normAutofit/>
          </a:bodyPr>
          <a:lstStyle>
            <a:lvl1pPr algn="ctr">
              <a:defRPr sz="3000" b="0" i="1" cap="none">
                <a:solidFill>
                  <a:schemeClr val="tx1"/>
                </a:solidFill>
              </a:defRPr>
            </a:lvl1pPr>
          </a:lstStyle>
          <a:p>
            <a:r>
              <a:rPr lang="en-US" noProof="0"/>
              <a:t>CLICK TO EDIT MASTER TITLE STYLE</a:t>
            </a:r>
          </a:p>
        </p:txBody>
      </p:sp>
      <p:sp>
        <p:nvSpPr>
          <p:cNvPr id="10" name="Text Placeholder 9"/>
          <p:cNvSpPr>
            <a:spLocks noGrp="1"/>
          </p:cNvSpPr>
          <p:nvPr>
            <p:ph type="body" sz="quarter" idx="13"/>
          </p:nvPr>
        </p:nvSpPr>
        <p:spPr>
          <a:xfrm>
            <a:off x="1426408" y="3352800"/>
            <a:ext cx="9339184" cy="381000"/>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noProof="0"/>
              <a:t>Edit Master text styles</a:t>
            </a:r>
          </a:p>
        </p:txBody>
      </p:sp>
      <p:sp>
        <p:nvSpPr>
          <p:cNvPr id="7" name="Rectangle: Rounded Corners 6">
            <a:extLst>
              <a:ext uri="{FF2B5EF4-FFF2-40B4-BE49-F238E27FC236}">
                <a16:creationId xmlns:a16="http://schemas.microsoft.com/office/drawing/2014/main" id="{1AD7857E-8E0E-4AC1-ABDC-E42462C788DE}"/>
              </a:ext>
            </a:extLst>
          </p:cNvPr>
          <p:cNvSpPr/>
          <p:nvPr userDrawn="1"/>
        </p:nvSpPr>
        <p:spPr>
          <a:xfrm>
            <a:off x="1750844" y="3962401"/>
            <a:ext cx="8690313" cy="1908173"/>
          </a:xfrm>
          <a:prstGeom prst="roundRect">
            <a:avLst>
              <a:gd name="adj" fmla="val 6552"/>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 Placeholder 2"/>
          <p:cNvSpPr>
            <a:spLocks noGrp="1"/>
          </p:cNvSpPr>
          <p:nvPr>
            <p:ph type="body" idx="1"/>
          </p:nvPr>
        </p:nvSpPr>
        <p:spPr>
          <a:xfrm>
            <a:off x="1857375" y="4021138"/>
            <a:ext cx="8486775" cy="1760537"/>
          </a:xfrm>
        </p:spPr>
        <p:txBody>
          <a:bodyPr anchor="ctr">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1534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599"/>
            <a:ext cx="10840914" cy="1260000"/>
          </a:xfrm>
        </p:spPr>
        <p:txBody>
          <a:bodyPr>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69599"/>
            <a:ext cx="5202071"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85800" y="2870201"/>
            <a:ext cx="5202071" cy="2916000"/>
          </a:xfrm>
          <a:prstGeom prst="roundRect">
            <a:avLst>
              <a:gd name="adj" fmla="val 2496"/>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98270" y="1869599"/>
            <a:ext cx="5228444"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298270" y="2870201"/>
            <a:ext cx="5202071" cy="2916000"/>
          </a:xfrm>
          <a:prstGeom prst="roundRect">
            <a:avLst>
              <a:gd name="adj" fmla="val 2798"/>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2" name="Straight Connector 11">
            <a:extLst>
              <a:ext uri="{FF2B5EF4-FFF2-40B4-BE49-F238E27FC236}">
                <a16:creationId xmlns:a16="http://schemas.microsoft.com/office/drawing/2014/main" id="{8031B0A9-3E16-4C5B-A6CE-045BCB91A008}"/>
              </a:ext>
              <a:ext uri="{C183D7F6-B498-43B3-948B-1728B52AA6E4}">
                <adec:decorative xmlns:adec="http://schemas.microsoft.com/office/drawing/2017/decorative" xmlns=""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696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9" name="Rectangle: Rounded Corners 8">
            <a:extLst>
              <a:ext uri="{FF2B5EF4-FFF2-40B4-BE49-F238E27FC236}">
                <a16:creationId xmlns:a16="http://schemas.microsoft.com/office/drawing/2014/main" id="{E44449DE-635B-4B23-9B8B-C95A5B8764DB}"/>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p:cNvSpPr>
            <a:spLocks noGrp="1"/>
          </p:cNvSpPr>
          <p:nvPr>
            <p:ph sz="half" idx="1"/>
          </p:nvPr>
        </p:nvSpPr>
        <p:spPr>
          <a:xfrm>
            <a:off x="685802" y="1869600"/>
            <a:ext cx="5040000" cy="3921601"/>
          </a:xfrm>
          <a:prstGeom prst="roundRect">
            <a:avLst>
              <a:gd name="adj" fmla="val 1970"/>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88644" y="1869601"/>
            <a:ext cx="5040000" cy="3921600"/>
          </a:xfrm>
          <a:prstGeom prst="roundRect">
            <a:avLst>
              <a:gd name="adj" fmla="val 2211"/>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0" name="Straight Connector 9">
            <a:extLst>
              <a:ext uri="{FF2B5EF4-FFF2-40B4-BE49-F238E27FC236}">
                <a16:creationId xmlns:a16="http://schemas.microsoft.com/office/drawing/2014/main" id="{E8539E0A-8009-4A6E-A7A1-5AEFA52206C3}"/>
              </a:ext>
              <a:ext uri="{C183D7F6-B498-43B3-948B-1728B52AA6E4}">
                <adec:decorative xmlns:adec="http://schemas.microsoft.com/office/drawing/2017/decorative" xmlns=""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hasCustomPrompt="1"/>
          </p:nvPr>
        </p:nvSpPr>
        <p:spPr>
          <a:xfrm>
            <a:off x="685801" y="609601"/>
            <a:ext cx="10840913" cy="3124199"/>
          </a:xfrm>
        </p:spPr>
        <p:txBody>
          <a:bodyPr anchor="ctr">
            <a:normAutofit/>
          </a:bodyPr>
          <a:lstStyle>
            <a:lvl1pPr algn="l">
              <a:defRPr sz="3000" b="0" cap="none"/>
            </a:lvl1pPr>
          </a:lstStyle>
          <a:p>
            <a:r>
              <a:rPr lang="en-US" noProof="0"/>
              <a:t>CLICK TO EDIT MASTER TITLE STYLE</a:t>
            </a:r>
          </a:p>
        </p:txBody>
      </p:sp>
      <p:sp>
        <p:nvSpPr>
          <p:cNvPr id="3" name="Text Placeholder 2"/>
          <p:cNvSpPr>
            <a:spLocks noGrp="1"/>
          </p:cNvSpPr>
          <p:nvPr>
            <p:ph type="body" idx="1"/>
          </p:nvPr>
        </p:nvSpPr>
        <p:spPr>
          <a:xfrm>
            <a:off x="685800" y="3733800"/>
            <a:ext cx="10840914" cy="20574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32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3" name="Date Placeholder 2"/>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51064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984B7D2A-0DF8-424B-9572-B79AEBB2D9DC}" type="datetimeFigureOut">
              <a:rPr lang="en-US" noProof="0" smtClean="0"/>
              <a:t>11/7/2025</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5370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84B7D2A-0DF8-424B-9572-B79AEBB2D9DC}" type="datetimeFigureOut">
              <a:rPr lang="en-US" noProof="0" smtClean="0"/>
              <a:t>11/7/2025</a:t>
            </a:fld>
            <a:endParaRPr lang="en-US" noProof="0"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dirty="0"/>
              <a:t>Add a Footer</a:t>
            </a:r>
          </a:p>
        </p:txBody>
      </p:sp>
      <p:sp>
        <p:nvSpPr>
          <p:cNvPr id="6" name="Slide Number Placeholder 5"/>
          <p:cNvSpPr>
            <a:spLocks noGrp="1"/>
          </p:cNvSpPr>
          <p:nvPr>
            <p:ph type="sldNum" sz="quarter" idx="4"/>
          </p:nvPr>
        </p:nvSpPr>
        <p:spPr>
          <a:xfrm>
            <a:off x="10266059" y="5870575"/>
            <a:ext cx="126065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 id="2147483679" r:id="rId4"/>
    <p:sldLayoutId id="2147483669" r:id="rId5"/>
    <p:sldLayoutId id="2147483680" r:id="rId6"/>
    <p:sldLayoutId id="2147483672" r:id="rId7"/>
    <p:sldLayoutId id="2147483665" r:id="rId8"/>
    <p:sldLayoutId id="2147483664" r:id="rId9"/>
    <p:sldLayoutId id="2147483671" r:id="rId10"/>
    <p:sldLayoutId id="2147483666" r:id="rId11"/>
    <p:sldLayoutId id="2147483667" r:id="rId12"/>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1894702" y="881448"/>
            <a:ext cx="7405816" cy="2158313"/>
          </a:xfrm>
        </p:spPr>
        <p:txBody>
          <a:bodyPr/>
          <a:lstStyle/>
          <a:p>
            <a:r>
              <a:rPr lang="en-US" b="1" dirty="0"/>
              <a:t>Landslide Detection with Multi-Spectral Satellite Imagery and Image Segmentation</a:t>
            </a:r>
            <a:endParaRPr lang="en-US" b="1"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7323437" y="3978876"/>
            <a:ext cx="4250725" cy="2776151"/>
          </a:xfrm>
        </p:spPr>
        <p:txBody>
          <a:bodyPr>
            <a:normAutofit/>
          </a:bodyPr>
          <a:lstStyle/>
          <a:p>
            <a:pPr marL="0" indent="0">
              <a:buNone/>
            </a:pPr>
            <a:r>
              <a:rPr lang="en-US" dirty="0"/>
              <a:t>PROJECT BY – </a:t>
            </a:r>
          </a:p>
          <a:p>
            <a:pPr marL="0" indent="0">
              <a:buNone/>
            </a:pPr>
            <a:r>
              <a:rPr lang="en-US" dirty="0"/>
              <a:t>RITIK NEHRA </a:t>
            </a:r>
            <a:r>
              <a:rPr lang="en-US" dirty="0" smtClean="0"/>
              <a:t> </a:t>
            </a:r>
            <a:endParaRPr lang="en-US" dirty="0"/>
          </a:p>
          <a:p>
            <a:pPr marL="0" indent="0">
              <a:buNone/>
            </a:pPr>
            <a:endParaRPr lang="en-US" dirty="0"/>
          </a:p>
          <a:p>
            <a:pPr marL="0" indent="0">
              <a:buNone/>
            </a:pPr>
            <a:r>
              <a:rPr lang="en-US" b="1" dirty="0">
                <a:solidFill>
                  <a:schemeClr val="tx1">
                    <a:lumMod val="85000"/>
                    <a:lumOff val="15000"/>
                  </a:schemeClr>
                </a:solidFill>
                <a:latin typeface="Arial Black" panose="020B0A04020102020204" charset="0"/>
                <a:cs typeface="Arial Black" panose="020B0A04020102020204" charset="0"/>
              </a:rPr>
              <a:t>Under the guidance of - </a:t>
            </a:r>
          </a:p>
          <a:p>
            <a:pPr marL="0" indent="0">
              <a:buNone/>
            </a:pPr>
            <a:r>
              <a:rPr lang="en-US" dirty="0"/>
              <a:t>Dr. </a:t>
            </a:r>
            <a:r>
              <a:rPr lang="en-US" dirty="0" err="1"/>
              <a:t>Dhanalakshmi</a:t>
            </a:r>
            <a:r>
              <a:rPr lang="en-US" dirty="0"/>
              <a:t> R</a:t>
            </a:r>
          </a:p>
        </p:txBody>
      </p:sp>
    </p:spTree>
    <p:extLst>
      <p:ext uri="{BB962C8B-B14F-4D97-AF65-F5344CB8AC3E}">
        <p14:creationId xmlns:p14="http://schemas.microsoft.com/office/powerpoint/2010/main" val="862656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0B7C9-6433-76BE-4C66-4DC6EC312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6AA3B-51F2-73D4-C82E-0E2A1F5F0301}"/>
              </a:ext>
            </a:extLst>
          </p:cNvPr>
          <p:cNvSpPr>
            <a:spLocks noGrp="1"/>
          </p:cNvSpPr>
          <p:nvPr>
            <p:ph type="title"/>
          </p:nvPr>
        </p:nvSpPr>
        <p:spPr>
          <a:xfrm>
            <a:off x="733167" y="897924"/>
            <a:ext cx="5618206" cy="1037966"/>
          </a:xfrm>
        </p:spPr>
        <p:txBody>
          <a:bodyPr/>
          <a:lstStyle/>
          <a:p>
            <a:r>
              <a:rPr lang="en-US" sz="2700" b="1" dirty="0">
                <a:latin typeface="Cascadia Code" panose="020B0609020000020004" pitchFamily="49" charset="0"/>
                <a:ea typeface="Cascadia Code" panose="020B0609020000020004" pitchFamily="49" charset="0"/>
                <a:cs typeface="Cascadia Code" panose="020B0609020000020004" pitchFamily="49" charset="0"/>
              </a:rPr>
              <a:t>Introduction</a:t>
            </a:r>
          </a:p>
        </p:txBody>
      </p:sp>
      <p:sp>
        <p:nvSpPr>
          <p:cNvPr id="3" name="Content Placeholder 2">
            <a:extLst>
              <a:ext uri="{FF2B5EF4-FFF2-40B4-BE49-F238E27FC236}">
                <a16:creationId xmlns:a16="http://schemas.microsoft.com/office/drawing/2014/main" id="{82EA28F1-0AC1-615F-F44F-C1F581E43FA5}"/>
              </a:ext>
            </a:extLst>
          </p:cNvPr>
          <p:cNvSpPr>
            <a:spLocks noGrp="1"/>
          </p:cNvSpPr>
          <p:nvPr>
            <p:ph idx="1"/>
          </p:nvPr>
        </p:nvSpPr>
        <p:spPr>
          <a:xfrm>
            <a:off x="1639252" y="2375837"/>
            <a:ext cx="7965988" cy="3093310"/>
          </a:xfrm>
        </p:spPr>
        <p:txBody>
          <a:bodyPr>
            <a:normAutofit/>
          </a:bodyPr>
          <a:lstStyle/>
          <a:p>
            <a:pPr marL="0" indent="0" algn="just">
              <a:buNone/>
            </a:pPr>
            <a:r>
              <a:rPr lang="en-US" dirty="0"/>
              <a:t>Landslides are a significant natural hazard, especially in mountainous and hilly terrains, leading to loss of life, infrastructure damage, and environmental destruction. Traditional methods of landslide detection, such as field surveys and visual inspections, are time-consuming and often impractical for large or remote areas. With the advancement of satellite technology, remote sensing techniques have emerged as a powerful tool for landslide detection. Multi-spectral satellite imagery, including features such as NDVI (Normalized Difference Vegetation Index), DEM (Digital Elevation Model), Slope, and RGB images, provides valuable insights into the conditions of terrain that are prone to landslides, making it ideal for developing automated systems for landslide detection.</a:t>
            </a:r>
          </a:p>
        </p:txBody>
      </p:sp>
    </p:spTree>
    <p:extLst>
      <p:ext uri="{BB962C8B-B14F-4D97-AF65-F5344CB8AC3E}">
        <p14:creationId xmlns:p14="http://schemas.microsoft.com/office/powerpoint/2010/main" val="3477980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AAAD-870C-1D23-D66B-28F0A3F0C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2F237-E7D3-D963-1285-C71570487169}"/>
              </a:ext>
            </a:extLst>
          </p:cNvPr>
          <p:cNvSpPr>
            <a:spLocks noGrp="1"/>
          </p:cNvSpPr>
          <p:nvPr>
            <p:ph type="title"/>
          </p:nvPr>
        </p:nvSpPr>
        <p:spPr>
          <a:xfrm>
            <a:off x="733167" y="897924"/>
            <a:ext cx="5618206" cy="1037966"/>
          </a:xfrm>
        </p:spPr>
        <p:txBody>
          <a:bodyPr/>
          <a:lstStyle/>
          <a:p>
            <a:r>
              <a:rPr lang="en-US" sz="2700" b="1" dirty="0">
                <a:latin typeface="Cascadia Code" panose="020B0609020000020004" pitchFamily="49" charset="0"/>
                <a:ea typeface="Cascadia Code" panose="020B0609020000020004" pitchFamily="49" charset="0"/>
                <a:cs typeface="Cascadia Code" panose="020B0609020000020004" pitchFamily="49" charset="0"/>
              </a:rPr>
              <a:t>Introduction</a:t>
            </a:r>
          </a:p>
        </p:txBody>
      </p:sp>
      <p:sp>
        <p:nvSpPr>
          <p:cNvPr id="3" name="Content Placeholder 2">
            <a:extLst>
              <a:ext uri="{FF2B5EF4-FFF2-40B4-BE49-F238E27FC236}">
                <a16:creationId xmlns:a16="http://schemas.microsoft.com/office/drawing/2014/main" id="{9F39FA0D-AB9C-5B9C-7EC4-A2C01624FC63}"/>
              </a:ext>
            </a:extLst>
          </p:cNvPr>
          <p:cNvSpPr>
            <a:spLocks noGrp="1"/>
          </p:cNvSpPr>
          <p:nvPr>
            <p:ph idx="1"/>
          </p:nvPr>
        </p:nvSpPr>
        <p:spPr>
          <a:xfrm>
            <a:off x="1639252" y="2358314"/>
            <a:ext cx="7965988" cy="2920783"/>
          </a:xfrm>
        </p:spPr>
        <p:txBody>
          <a:bodyPr>
            <a:normAutofit/>
          </a:bodyPr>
          <a:lstStyle/>
          <a:p>
            <a:pPr marL="0" indent="0" algn="just">
              <a:buNone/>
            </a:pPr>
            <a:r>
              <a:rPr lang="en-US" dirty="0"/>
              <a:t>In recent years, deep learning-based image segmentation models, particularly </a:t>
            </a:r>
            <a:r>
              <a:rPr lang="en-US" dirty="0" err="1"/>
              <a:t>UNet</a:t>
            </a:r>
            <a:r>
              <a:rPr lang="en-US" dirty="0"/>
              <a:t> and FCN (Fully Convolutional Networks), have shown considerable promise in geospatial applications, including landslide detection. These models are capable of performing pixel-wise classification, allowing them to precisely identify areas affected by landslides. This study explores the use of </a:t>
            </a:r>
            <a:r>
              <a:rPr lang="en-US" dirty="0" err="1"/>
              <a:t>UNet</a:t>
            </a:r>
            <a:r>
              <a:rPr lang="en-US" dirty="0"/>
              <a:t> and FCN architectures for landslide detection, evaluating their effectiveness on multi-spectral satellite imagery. By comparing the segmentation performance of these models, we aim to identify the most suitable approach for landslide detection, ultimately contributing to disaster mitigation efforts and early warning systems in landslide-prone regions.</a:t>
            </a:r>
          </a:p>
        </p:txBody>
      </p:sp>
    </p:spTree>
    <p:extLst>
      <p:ext uri="{BB962C8B-B14F-4D97-AF65-F5344CB8AC3E}">
        <p14:creationId xmlns:p14="http://schemas.microsoft.com/office/powerpoint/2010/main" val="711325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32CF-2DB4-4BD0-E56C-57C04A9DA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DFA30-E810-5084-9E4F-7D7CDED9D6CF}"/>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a:extLst>
              <a:ext uri="{FF2B5EF4-FFF2-40B4-BE49-F238E27FC236}">
                <a16:creationId xmlns:a16="http://schemas.microsoft.com/office/drawing/2014/main" id="{F6AAE1E5-AA50-73FD-0A03-8D4965C0BAC9}"/>
              </a:ext>
            </a:extLst>
          </p:cNvPr>
          <p:cNvSpPr txBox="1"/>
          <p:nvPr/>
        </p:nvSpPr>
        <p:spPr>
          <a:xfrm>
            <a:off x="609600" y="881448"/>
            <a:ext cx="5420497" cy="784830"/>
          </a:xfrm>
          <a:prstGeom prst="rect">
            <a:avLst/>
          </a:prstGeom>
          <a:noFill/>
        </p:spPr>
        <p:txBody>
          <a:bodyPr wrap="square" rtlCol="0">
            <a:spAutoFit/>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r>
            <a:br>
              <a:rPr lang="en-US" b="1" dirty="0">
                <a:latin typeface="Cascadia Code" panose="020B0609020000020004" pitchFamily="49" charset="0"/>
                <a:ea typeface="Cascadia Code" panose="020B0609020000020004" pitchFamily="49" charset="0"/>
                <a:cs typeface="Cascadia Code" panose="020B0609020000020004" pitchFamily="49" charset="0"/>
              </a:rPr>
            </a:br>
            <a:r>
              <a:rPr lang="en-US" altLang="en-IN" sz="2700" dirty="0">
                <a:latin typeface="Cascadia Code" panose="020B0609020000020004" pitchFamily="49" charset="0"/>
                <a:ea typeface="Cascadia Code" panose="020B0609020000020004" pitchFamily="49" charset="0"/>
                <a:cs typeface="Cascadia Code" panose="020B0609020000020004" pitchFamily="49" charset="0"/>
              </a:rPr>
              <a:t>Literature Survey: </a:t>
            </a:r>
            <a:r>
              <a:rPr lang="en-US" sz="2700" b="1" dirty="0">
                <a:latin typeface="Cascadia Code" panose="020B0609020000020004" pitchFamily="49" charset="0"/>
                <a:ea typeface="Cascadia Code" panose="020B0609020000020004" pitchFamily="49" charset="0"/>
                <a:cs typeface="Cascadia Code" panose="020B0609020000020004" pitchFamily="49" charset="0"/>
              </a:rPr>
              <a:t> </a:t>
            </a:r>
            <a:endParaRPr lang="en-US" sz="27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Rectangle 2">
            <a:extLst>
              <a:ext uri="{FF2B5EF4-FFF2-40B4-BE49-F238E27FC236}">
                <a16:creationId xmlns:a16="http://schemas.microsoft.com/office/drawing/2014/main" id="{35317D0F-F6C3-D670-7EC0-F7D8601B7169}"/>
              </a:ext>
            </a:extLst>
          </p:cNvPr>
          <p:cNvSpPr>
            <a:spLocks noChangeArrowheads="1"/>
          </p:cNvSpPr>
          <p:nvPr/>
        </p:nvSpPr>
        <p:spPr bwMode="auto">
          <a:xfrm>
            <a:off x="1186249" y="2497277"/>
            <a:ext cx="915223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defTabSz="914400" eaLnBrk="0" fontAlgn="base" hangingPunct="0">
              <a:spcBef>
                <a:spcPct val="0"/>
              </a:spcBef>
              <a:spcAft>
                <a:spcPct val="0"/>
              </a:spcAft>
              <a:buFont typeface="Arial" panose="020B0604020202020204" pitchFamily="34" charset="0"/>
              <a:buChar char="•"/>
            </a:pPr>
            <a:r>
              <a:rPr lang="en-US" sz="1600" dirty="0"/>
              <a:t>Early approaches to landslide prediction involved traditional machine learning techniques like logistic regression, decision trees, and support vector machines (SVM). Bui et al. (2016) [1] used SVM to classify landslide-prone areas, integrating spatial and environmental variables such as slope, land cover, and rainfall. Although SVM showed promise, its ability to handle high-dimensional, unstructured data (e.g., images) was limited.</a:t>
            </a:r>
          </a:p>
          <a:p>
            <a:pPr lvl="0" algn="just" defTabSz="914400" eaLnBrk="0" fontAlgn="base" hangingPunct="0">
              <a:spcBef>
                <a:spcPct val="0"/>
              </a:spcBef>
              <a:spcAft>
                <a:spcPct val="0"/>
              </a:spcAft>
            </a:pPr>
            <a:endParaRPr lang="en-US" sz="1600" dirty="0"/>
          </a:p>
          <a:p>
            <a:pPr marL="342900" lvl="0" indent="-342900" algn="just" defTabSz="914400" eaLnBrk="0" fontAlgn="base" hangingPunct="0">
              <a:spcBef>
                <a:spcPct val="0"/>
              </a:spcBef>
              <a:spcAft>
                <a:spcPct val="0"/>
              </a:spcAft>
              <a:buFont typeface="Arial" panose="020B0604020202020204" pitchFamily="34" charset="0"/>
              <a:buChar char="•"/>
            </a:pPr>
            <a:r>
              <a:rPr lang="en-US" sz="1600" dirty="0"/>
              <a:t>CNNs have revolutionized the field of image recognition, making them suitable for landslide prediction based on remote sensing and satellite images. Meena et al. (2019) [2] utilized CNN to classify landslide occurrences using satellite imagery and topographic features, demonstrating a marked improvement over traditional methods. CNN's ability to learn spatial hierarchies from images allowed for more accurate classification, yet one limitation noted was the difficulty in detecting small-scale landslides.</a:t>
            </a:r>
          </a:p>
          <a:p>
            <a:pPr marL="342900" lvl="0" indent="-342900" algn="just" defTabSz="914400" eaLnBrk="0" fontAlgn="base" hangingPunct="0">
              <a:spcBef>
                <a:spcPct val="0"/>
              </a:spcBef>
              <a:spcAft>
                <a:spcPct val="0"/>
              </a:spcAft>
              <a:buFont typeface="Arial" panose="020B0604020202020204" pitchFamily="34" charset="0"/>
              <a:buChar char="•"/>
            </a:pPr>
            <a:endParaRPr kumimoji="0" lang="en-US" altLang="en-US" sz="1600"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9798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p:cNvSpPr txBox="1"/>
          <p:nvPr/>
        </p:nvSpPr>
        <p:spPr>
          <a:xfrm>
            <a:off x="609600" y="881448"/>
            <a:ext cx="5420497" cy="784830"/>
          </a:xfrm>
          <a:prstGeom prst="rect">
            <a:avLst/>
          </a:prstGeom>
          <a:noFill/>
        </p:spPr>
        <p:txBody>
          <a:bodyPr wrap="square" rtlCol="0">
            <a:spAutoFit/>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r>
            <a:br>
              <a:rPr lang="en-US" b="1" dirty="0">
                <a:latin typeface="Cascadia Code" panose="020B0609020000020004" pitchFamily="49" charset="0"/>
                <a:ea typeface="Cascadia Code" panose="020B0609020000020004" pitchFamily="49" charset="0"/>
                <a:cs typeface="Cascadia Code" panose="020B0609020000020004" pitchFamily="49" charset="0"/>
              </a:rPr>
            </a:br>
            <a:r>
              <a:rPr lang="en-US" altLang="en-IN" sz="2700" dirty="0">
                <a:latin typeface="Cascadia Code" panose="020B0609020000020004" pitchFamily="49" charset="0"/>
                <a:ea typeface="Cascadia Code" panose="020B0609020000020004" pitchFamily="49" charset="0"/>
                <a:cs typeface="Cascadia Code" panose="020B0609020000020004" pitchFamily="49" charset="0"/>
              </a:rPr>
              <a:t>Literature Survey: </a:t>
            </a:r>
            <a:r>
              <a:rPr lang="en-US" sz="2700" b="1" dirty="0">
                <a:latin typeface="Cascadia Code" panose="020B0609020000020004" pitchFamily="49" charset="0"/>
                <a:ea typeface="Cascadia Code" panose="020B0609020000020004" pitchFamily="49" charset="0"/>
                <a:cs typeface="Cascadia Code" panose="020B0609020000020004" pitchFamily="49" charset="0"/>
              </a:rPr>
              <a:t> </a:t>
            </a:r>
            <a:endParaRPr lang="en-US" sz="27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Rectangle 2"/>
          <p:cNvSpPr>
            <a:spLocks noChangeArrowheads="1"/>
          </p:cNvSpPr>
          <p:nvPr/>
        </p:nvSpPr>
        <p:spPr bwMode="auto">
          <a:xfrm>
            <a:off x="1186249" y="1881725"/>
            <a:ext cx="10010838"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600" dirty="0"/>
              <a:t>U-Net, originally proposed by </a:t>
            </a:r>
            <a:r>
              <a:rPr lang="en-US" sz="1600" dirty="0" err="1"/>
              <a:t>Ronneberger</a:t>
            </a:r>
            <a:r>
              <a:rPr lang="en-US" sz="1600" dirty="0"/>
              <a:t> et al. (2015) [4], is a popular architecture for biomedical image segmentation and has since been applied to landslide detection. The U-Net model, with its contracting and expansive paths, is well-suited for identifying the exact locations of landslides in an image.</a:t>
            </a:r>
          </a:p>
          <a:p>
            <a:pPr algn="just"/>
            <a:endParaRPr lang="en-US" sz="1600" dirty="0"/>
          </a:p>
          <a:p>
            <a:pPr marL="285750" indent="-285750" algn="just">
              <a:buFont typeface="Arial" panose="020B0604020202020204" pitchFamily="34" charset="0"/>
              <a:buChar char="•"/>
            </a:pPr>
            <a:r>
              <a:rPr lang="en-US" sz="1600" dirty="0"/>
              <a:t>Wang et al. (2021) [5] applied U-Net to detect landslide regions in satellite images. Their study demonstrated that U-Net could effectively segment landslide-affected areas and produce pixel-level accuracy, outperforming conventional methods. The primary advantage of U-Net over CNN is its ability to predict landslide boundaries and the precise regions affected, which is essential for practical disaster management applications.</a:t>
            </a:r>
          </a:p>
          <a:p>
            <a:pPr algn="just"/>
            <a:endParaRPr lang="en-US" sz="1600" dirty="0"/>
          </a:p>
          <a:p>
            <a:pPr marL="285750" indent="-285750" algn="just">
              <a:buFont typeface="Arial" panose="020B0604020202020204" pitchFamily="34" charset="0"/>
              <a:buChar char="•"/>
            </a:pPr>
            <a:r>
              <a:rPr lang="en-US" sz="1600" dirty="0"/>
              <a:t>Deep learning techniques, particularly CNN and U-Net architectures, have shown great promise in improving landslide prediction accuracy. CNN models excel in classification tasks, while U-Net offers powerful segmentation capabilities that can detect landslide-affected regions at the pixel level. Hybrid models combining the strengths of both CNN and U-Net have demonstrated superior performance in complex terrains. However, challenges such as data availability and real-time prediction remain. Future work should focus on developing more robust models, incorporating diverse data types, and exploring transfer learning techniques to further enhance landslide prediction systems.</a:t>
            </a:r>
          </a:p>
          <a:p>
            <a:pPr algn="just"/>
            <a:endParaRPr lang="en-US" sz="1600" dirty="0"/>
          </a:p>
        </p:txBody>
      </p:sp>
    </p:spTree>
    <p:extLst>
      <p:ext uri="{BB962C8B-B14F-4D97-AF65-F5344CB8AC3E}">
        <p14:creationId xmlns:p14="http://schemas.microsoft.com/office/powerpoint/2010/main" val="3451478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733167" y="897924"/>
            <a:ext cx="5618206" cy="1037966"/>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r>
              <a:rPr lang="en-US" sz="2700" dirty="0">
                <a:latin typeface="Cascadia Code" panose="020B0609020000020004" pitchFamily="49" charset="0"/>
                <a:ea typeface="Cascadia Code" panose="020B0609020000020004" pitchFamily="49" charset="0"/>
                <a:cs typeface="Cascadia Code" panose="020B0609020000020004" pitchFamily="49" charset="0"/>
              </a:rPr>
              <a:t>Problem statement : </a:t>
            </a:r>
            <a:endParaRPr lang="en-US" sz="2700" b="1"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Content Placeholder 2">
            <a:extLst>
              <a:ext uri="{FF2B5EF4-FFF2-40B4-BE49-F238E27FC236}">
                <a16:creationId xmlns:a16="http://schemas.microsoft.com/office/drawing/2014/main" id="{88CB4E0E-ECE5-4628-8AFC-87C9EFB0840C}"/>
              </a:ext>
            </a:extLst>
          </p:cNvPr>
          <p:cNvSpPr>
            <a:spLocks noGrp="1"/>
          </p:cNvSpPr>
          <p:nvPr>
            <p:ph idx="1"/>
          </p:nvPr>
        </p:nvSpPr>
        <p:spPr>
          <a:xfrm>
            <a:off x="1458098" y="1935890"/>
            <a:ext cx="7965988" cy="3451655"/>
          </a:xfrm>
        </p:spPr>
        <p:txBody>
          <a:bodyPr>
            <a:normAutofit/>
          </a:bodyPr>
          <a:lstStyle/>
          <a:p>
            <a:pPr marL="0" indent="0">
              <a:buNone/>
            </a:pPr>
            <a:r>
              <a:rPr lang="en-US" dirty="0"/>
              <a:t>Landslides present a significant threat to human life and infrastructure, especially in areas with steep slopes and heavy rainfall. Traditional methods of detecting landslides, such as manual inspections, are often slow and limited in coverage. With the rise of satellite imagery and remote sensing data, there is an opportunity to automate landslide detection using image segmentation techniques. However, accurately detecting landslides from multi-spectral data remains challenging due to the complexity of the terrain and the need to capture key features such as vegetation, slope, and elevation. This research aims to explore and compare the performance of </a:t>
            </a:r>
            <a:r>
              <a:rPr lang="en-US" dirty="0" err="1"/>
              <a:t>UNet</a:t>
            </a:r>
            <a:r>
              <a:rPr lang="en-US" dirty="0"/>
              <a:t> and FCN deep learning models for landslide detection, leveraging multi-spectral satellite imagery to improve detection accuracy and provide a more efficient, scalable solution for real-time landslide monitoring.</a:t>
            </a:r>
          </a:p>
        </p:txBody>
      </p:sp>
    </p:spTree>
    <p:extLst>
      <p:ext uri="{BB962C8B-B14F-4D97-AF65-F5344CB8AC3E}">
        <p14:creationId xmlns:p14="http://schemas.microsoft.com/office/powerpoint/2010/main" val="2802909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4" name="TextBox 3"/>
          <p:cNvSpPr txBox="1"/>
          <p:nvPr/>
        </p:nvSpPr>
        <p:spPr>
          <a:xfrm>
            <a:off x="906163" y="1120346"/>
            <a:ext cx="5313406" cy="507831"/>
          </a:xfrm>
          <a:prstGeom prst="rect">
            <a:avLst/>
          </a:prstGeom>
          <a:noFill/>
        </p:spPr>
        <p:txBody>
          <a:bodyPr wrap="square" rtlCol="0">
            <a:spAutoFit/>
          </a:bodyPr>
          <a:lstStyle/>
          <a:p>
            <a:r>
              <a:rPr lang="en-US" sz="2700" dirty="0">
                <a:latin typeface="Cascadia Code" panose="020B0609020000020004" pitchFamily="49" charset="0"/>
                <a:ea typeface="Cascadia Code" panose="020B0609020000020004" pitchFamily="49" charset="0"/>
                <a:cs typeface="Cascadia Code" panose="020B0609020000020004" pitchFamily="49" charset="0"/>
              </a:rPr>
              <a:t>OBJECTIVE  :</a:t>
            </a:r>
          </a:p>
        </p:txBody>
      </p:sp>
      <p:sp>
        <p:nvSpPr>
          <p:cNvPr id="8" name="Rectangle 4">
            <a:extLst>
              <a:ext uri="{FF2B5EF4-FFF2-40B4-BE49-F238E27FC236}">
                <a16:creationId xmlns:a16="http://schemas.microsoft.com/office/drawing/2014/main" id="{95C11B87-4999-2AEC-67EA-0DE2EF0B1E84}"/>
              </a:ext>
            </a:extLst>
          </p:cNvPr>
          <p:cNvSpPr>
            <a:spLocks noGrp="1" noChangeArrowheads="1"/>
          </p:cNvSpPr>
          <p:nvPr>
            <p:ph idx="1"/>
          </p:nvPr>
        </p:nvSpPr>
        <p:spPr bwMode="auto">
          <a:xfrm>
            <a:off x="1320321" y="2196453"/>
            <a:ext cx="979849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Investigate the use of key landslide-related features such as NDVI, DEM, Slope, and RGB images for enhancing landslide detection accuracy.</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Compare the performance of two deep learning models, </a:t>
            </a:r>
            <a:r>
              <a:rPr kumimoji="0" lang="en-US" altLang="en-US" sz="1800" b="0" i="0" u="none" strike="noStrike" cap="none" normalizeH="0" baseline="0" dirty="0" err="1">
                <a:ln>
                  <a:noFill/>
                </a:ln>
                <a:solidFill>
                  <a:schemeClr val="tx1"/>
                </a:solidFill>
                <a:effectLst/>
                <a:latin typeface="Arial" panose="020B0604020202020204" pitchFamily="34" charset="0"/>
              </a:rPr>
              <a:t>UNet</a:t>
            </a:r>
            <a:r>
              <a:rPr kumimoji="0" lang="en-US" altLang="en-US" sz="1800" b="0" i="0" u="none" strike="noStrike" cap="none" normalizeH="0" baseline="0" dirty="0">
                <a:ln>
                  <a:noFill/>
                </a:ln>
                <a:solidFill>
                  <a:schemeClr val="tx1"/>
                </a:solidFill>
                <a:effectLst/>
                <a:latin typeface="Arial" panose="020B0604020202020204" pitchFamily="34" charset="0"/>
              </a:rPr>
              <a:t> and FCN, in terms of precision, recall, and F1 score for pixel-wise landslide segmentation. </a:t>
            </a:r>
          </a:p>
          <a:p>
            <a:pPr defTabSz="914400" eaLnBrk="0" fontAlgn="base" hangingPunct="0">
              <a:spcBef>
                <a:spcPct val="0"/>
              </a:spcBef>
              <a:spcAft>
                <a:spcPct val="0"/>
              </a:spcAft>
              <a:buClrTx/>
              <a:buSzTx/>
            </a:pPr>
            <a:r>
              <a:rPr lang="en-US" dirty="0"/>
              <a:t>Evaluate the effectiveness of each model in identifying and delineating landslides from multi-spectral satellite images, with a focus on improving detection in challenging terrains.</a:t>
            </a:r>
          </a:p>
          <a:p>
            <a:pPr defTabSz="914400" eaLnBrk="0" fontAlgn="base" hangingPunct="0">
              <a:spcBef>
                <a:spcPct val="0"/>
              </a:spcBef>
              <a:spcAft>
                <a:spcPct val="0"/>
              </a:spcAft>
              <a:buClrTx/>
              <a:buSzTx/>
            </a:pPr>
            <a:r>
              <a:rPr lang="en-US" dirty="0"/>
              <a:t>Provide insights into the potential for real-time landslide monitoring and disaster mitigation through automated detection systems using remote sensing data.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285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BEA85-E4E2-61C3-4DE7-D35F67593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C909B-2F9E-C091-07E1-AC1C65029C06}"/>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3" name="Content Placeholder 2">
            <a:extLst>
              <a:ext uri="{FF2B5EF4-FFF2-40B4-BE49-F238E27FC236}">
                <a16:creationId xmlns:a16="http://schemas.microsoft.com/office/drawing/2014/main" id="{81772E11-A024-A723-3BF7-BC413019F3E7}"/>
              </a:ext>
            </a:extLst>
          </p:cNvPr>
          <p:cNvSpPr>
            <a:spLocks noGrp="1"/>
          </p:cNvSpPr>
          <p:nvPr>
            <p:ph idx="1"/>
          </p:nvPr>
        </p:nvSpPr>
        <p:spPr>
          <a:xfrm>
            <a:off x="1685492" y="2381242"/>
            <a:ext cx="7224584" cy="3595310"/>
          </a:xfrm>
        </p:spPr>
        <p:txBody>
          <a:bodyPr>
            <a:normAutofit/>
          </a:bodyPr>
          <a:lstStyle/>
          <a:p>
            <a:r>
              <a:rPr lang="en-US" dirty="0"/>
              <a:t>The proposed system leverages multi-spectral satellite imagery to detect landslides using advanced image segmentation techniques. By integrating various landslide-correlated features such as NDVI, DEM, Slope, and RGB images, the system aims to enhance the accuracy of landslide detection, providing early warnings to mitigate the risk of disasters. The core of the system is based on deep learning models—</a:t>
            </a:r>
            <a:r>
              <a:rPr lang="en-US" dirty="0" err="1"/>
              <a:t>UNet</a:t>
            </a:r>
            <a:r>
              <a:rPr lang="en-US" dirty="0"/>
              <a:t> and FCN—which are trained to segment landslide-prone areas from satellite images, enabling real-time monitoring and response.</a:t>
            </a:r>
          </a:p>
        </p:txBody>
      </p:sp>
      <p:sp>
        <p:nvSpPr>
          <p:cNvPr id="4" name="TextBox 3">
            <a:extLst>
              <a:ext uri="{FF2B5EF4-FFF2-40B4-BE49-F238E27FC236}">
                <a16:creationId xmlns:a16="http://schemas.microsoft.com/office/drawing/2014/main" id="{3AF7A69F-2E86-00F8-1FC4-FC8E60D6FBB2}"/>
              </a:ext>
            </a:extLst>
          </p:cNvPr>
          <p:cNvSpPr txBox="1"/>
          <p:nvPr/>
        </p:nvSpPr>
        <p:spPr>
          <a:xfrm>
            <a:off x="906163" y="1120346"/>
            <a:ext cx="5313406" cy="523220"/>
          </a:xfrm>
          <a:prstGeom prst="rect">
            <a:avLst/>
          </a:prstGeom>
          <a:noFill/>
        </p:spPr>
        <p:txBody>
          <a:bodyPr wrap="square" rtlCol="0">
            <a:spAutoFit/>
          </a:bodyPr>
          <a:lstStyle/>
          <a:p>
            <a:r>
              <a:rPr lang="en-US" sz="2800" b="1" dirty="0"/>
              <a:t>Proposed System Introduction</a:t>
            </a:r>
            <a:endParaRPr lang="en-US" sz="2800" dirty="0"/>
          </a:p>
        </p:txBody>
      </p:sp>
    </p:spTree>
    <p:extLst>
      <p:ext uri="{BB962C8B-B14F-4D97-AF65-F5344CB8AC3E}">
        <p14:creationId xmlns:p14="http://schemas.microsoft.com/office/powerpoint/2010/main" val="466846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8CD5-67A6-FDAC-4E94-F6FD76AAA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DC332-3EB2-47F8-325F-5DFA54C8ADF6}"/>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3" name="Content Placeholder 2">
            <a:extLst>
              <a:ext uri="{FF2B5EF4-FFF2-40B4-BE49-F238E27FC236}">
                <a16:creationId xmlns:a16="http://schemas.microsoft.com/office/drawing/2014/main" id="{761DCA65-9A64-8169-7B77-8E122B9E31C3}"/>
              </a:ext>
            </a:extLst>
          </p:cNvPr>
          <p:cNvSpPr>
            <a:spLocks noGrp="1"/>
          </p:cNvSpPr>
          <p:nvPr>
            <p:ph idx="1"/>
          </p:nvPr>
        </p:nvSpPr>
        <p:spPr>
          <a:xfrm>
            <a:off x="1650987" y="1303590"/>
            <a:ext cx="7224584" cy="4250819"/>
          </a:xfrm>
        </p:spPr>
        <p:txBody>
          <a:bodyPr>
            <a:normAutofit/>
          </a:bodyPr>
          <a:lstStyle/>
          <a:p>
            <a:pPr marL="0" indent="0">
              <a:buNone/>
            </a:pPr>
            <a:r>
              <a:rPr lang="en-US" dirty="0"/>
              <a:t>The proposed system is designed with multiple integrated modules, each handling specific aspects of the landslide prediction process. The system begins with input data, including satellite imagery, digital elevation models, and multispectral data, which provide crucial geospatial information. This data then moves through a preprocessing stage to ensure quality and consistency, where it undergoes rescaling, filtering, and normalization. The processed data is subsequently input into two deep learning models: the CNN model, which performs classification to identify landslide-prone areas, and the U-Net model, which offers pixel-level segmentation to map out exact landslide boundaries. Finally, the outputs from these models are combined, resulting in a comprehensive map that highlights high-risk landslide zones. This map serves as a practical tool for disaster management by visualizing potential landslide areas in an easily interpretable format.</a:t>
            </a:r>
          </a:p>
        </p:txBody>
      </p:sp>
    </p:spTree>
    <p:extLst>
      <p:ext uri="{BB962C8B-B14F-4D97-AF65-F5344CB8AC3E}">
        <p14:creationId xmlns:p14="http://schemas.microsoft.com/office/powerpoint/2010/main" val="2813365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CC82B-E839-6536-B51F-395DA3CE2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EB4E7-D1D0-11A3-20FC-258C5AD2D3C3}"/>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3" name="Content Placeholder 2">
            <a:extLst>
              <a:ext uri="{FF2B5EF4-FFF2-40B4-BE49-F238E27FC236}">
                <a16:creationId xmlns:a16="http://schemas.microsoft.com/office/drawing/2014/main" id="{DF49DE47-11B4-84E7-4808-B6BD31E8A523}"/>
              </a:ext>
            </a:extLst>
          </p:cNvPr>
          <p:cNvSpPr>
            <a:spLocks noGrp="1"/>
          </p:cNvSpPr>
          <p:nvPr>
            <p:ph idx="1"/>
          </p:nvPr>
        </p:nvSpPr>
        <p:spPr>
          <a:xfrm>
            <a:off x="1650987" y="1303590"/>
            <a:ext cx="7224584" cy="4250819"/>
          </a:xfrm>
        </p:spPr>
        <p:txBody>
          <a:bodyPr>
            <a:normAutofit/>
          </a:bodyPr>
          <a:lstStyle/>
          <a:p>
            <a:pPr marL="0" indent="0">
              <a:buNone/>
            </a:pPr>
            <a:r>
              <a:rPr lang="en-IN" b="1" dirty="0"/>
              <a:t>List of Modules </a:t>
            </a:r>
          </a:p>
          <a:p>
            <a:pPr>
              <a:buFont typeface="+mj-lt"/>
              <a:buAutoNum type="arabicPeriod"/>
            </a:pPr>
            <a:r>
              <a:rPr lang="en-IN" b="1" dirty="0"/>
              <a:t>Data Collection</a:t>
            </a:r>
            <a:r>
              <a:rPr lang="en-IN" dirty="0"/>
              <a:t>: Acquisition of multi-spectral satellite imagery (RGB, NDVI, DEM, Slope).</a:t>
            </a:r>
          </a:p>
          <a:p>
            <a:pPr>
              <a:buFont typeface="+mj-lt"/>
              <a:buAutoNum type="arabicPeriod"/>
            </a:pPr>
            <a:r>
              <a:rPr lang="en-IN" b="1" dirty="0"/>
              <a:t>Preprocessing</a:t>
            </a:r>
            <a:r>
              <a:rPr lang="en-IN" dirty="0"/>
              <a:t>: Image normalization and transformation to enhance input data for model training.</a:t>
            </a:r>
          </a:p>
          <a:p>
            <a:pPr>
              <a:buFont typeface="+mj-lt"/>
              <a:buAutoNum type="arabicPeriod"/>
            </a:pPr>
            <a:r>
              <a:rPr lang="en-IN" b="1" dirty="0"/>
              <a:t>Model Training</a:t>
            </a:r>
            <a:r>
              <a:rPr lang="en-IN" dirty="0"/>
              <a:t>: Training of </a:t>
            </a:r>
            <a:r>
              <a:rPr lang="en-IN" dirty="0" err="1"/>
              <a:t>UNet</a:t>
            </a:r>
            <a:r>
              <a:rPr lang="en-IN" dirty="0"/>
              <a:t> and FCN models for pixel-wise segmentation.</a:t>
            </a:r>
          </a:p>
          <a:p>
            <a:pPr>
              <a:buFont typeface="+mj-lt"/>
              <a:buAutoNum type="arabicPeriod"/>
            </a:pPr>
            <a:r>
              <a:rPr lang="en-IN" b="1" dirty="0"/>
              <a:t>Prediction &amp; Evaluation</a:t>
            </a:r>
            <a:r>
              <a:rPr lang="en-IN" dirty="0"/>
              <a:t>: Segmenting and predicting landslide-prone areas, followed by model evaluation using performance metrics.</a:t>
            </a:r>
          </a:p>
          <a:p>
            <a:pPr>
              <a:buFont typeface="+mj-lt"/>
              <a:buAutoNum type="arabicPeriod"/>
            </a:pPr>
            <a:r>
              <a:rPr lang="en-IN" b="1" dirty="0"/>
              <a:t>Post-processing &amp; Visualization</a:t>
            </a:r>
            <a:r>
              <a:rPr lang="en-IN" dirty="0"/>
              <a:t>: Generating and visualizing the output with predicted landslide regions on the satellite images.</a:t>
            </a:r>
          </a:p>
        </p:txBody>
      </p:sp>
    </p:spTree>
    <p:extLst>
      <p:ext uri="{BB962C8B-B14F-4D97-AF65-F5344CB8AC3E}">
        <p14:creationId xmlns:p14="http://schemas.microsoft.com/office/powerpoint/2010/main" val="3696211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305F2-4D75-4D76-BA59-F00627AB838F}"/>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p:cNvSpPr txBox="1"/>
          <p:nvPr/>
        </p:nvSpPr>
        <p:spPr>
          <a:xfrm>
            <a:off x="971599" y="803834"/>
            <a:ext cx="5420497" cy="523220"/>
          </a:xfrm>
          <a:prstGeom prst="rect">
            <a:avLst/>
          </a:prstGeom>
          <a:noFill/>
        </p:spPr>
        <p:txBody>
          <a:bodyPr wrap="square" rtlCol="0">
            <a:spAutoFit/>
          </a:bodyPr>
          <a:lstStyle/>
          <a:p>
            <a:r>
              <a:rPr lang="en-IN" sz="2800" dirty="0"/>
              <a:t>Explanation of Modules</a:t>
            </a:r>
            <a:endParaRPr lang="en-US" sz="28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Rectangle 2"/>
          <p:cNvSpPr>
            <a:spLocks noChangeArrowheads="1"/>
          </p:cNvSpPr>
          <p:nvPr/>
        </p:nvSpPr>
        <p:spPr bwMode="auto">
          <a:xfrm>
            <a:off x="1376031" y="1611099"/>
            <a:ext cx="915223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Data Collection</a:t>
            </a:r>
            <a:r>
              <a:rPr lang="en-US" dirty="0"/>
              <a:t>:</a:t>
            </a:r>
          </a:p>
          <a:p>
            <a:pPr marL="285750" indent="-285750">
              <a:buFont typeface="Arial" panose="020B0604020202020204" pitchFamily="34" charset="0"/>
              <a:buChar char="•"/>
            </a:pPr>
            <a:r>
              <a:rPr lang="en-US" dirty="0"/>
              <a:t>The satellite images used in this research consist of multiple spectral bands like RGB, NDVI (Normalized Difference Vegetation Index), DEM (Digital Elevation Model), and Slope data. These features help in identifying regions prone to </a:t>
            </a:r>
            <a:r>
              <a:rPr lang="en-US" dirty="0" err="1"/>
              <a:t>landslides.NDVI</a:t>
            </a:r>
            <a:r>
              <a:rPr lang="en-US" dirty="0"/>
              <a:t> provides vegetation health, DEM gives topographical information, and Slope gives terrain steepness, all critical for landslide prediction.</a:t>
            </a:r>
          </a:p>
        </p:txBody>
      </p:sp>
      <p:sp>
        <p:nvSpPr>
          <p:cNvPr id="3" name="TextBox 2">
            <a:extLst>
              <a:ext uri="{FF2B5EF4-FFF2-40B4-BE49-F238E27FC236}">
                <a16:creationId xmlns:a16="http://schemas.microsoft.com/office/drawing/2014/main" id="{9693B81A-CD4B-5749-23AC-BE87D7EE06D1}"/>
              </a:ext>
            </a:extLst>
          </p:cNvPr>
          <p:cNvSpPr txBox="1"/>
          <p:nvPr/>
        </p:nvSpPr>
        <p:spPr>
          <a:xfrm>
            <a:off x="1376031" y="3745842"/>
            <a:ext cx="8988724" cy="2031325"/>
          </a:xfrm>
          <a:prstGeom prst="rect">
            <a:avLst/>
          </a:prstGeom>
          <a:noFill/>
        </p:spPr>
        <p:txBody>
          <a:bodyPr wrap="square" rtlCol="0">
            <a:spAutoFit/>
          </a:bodyPr>
          <a:lstStyle/>
          <a:p>
            <a:r>
              <a:rPr lang="en-US" b="1" dirty="0"/>
              <a:t>Preprocessing</a:t>
            </a:r>
            <a:r>
              <a:rPr lang="en-US" dirty="0"/>
              <a:t>:</a:t>
            </a:r>
          </a:p>
          <a:p>
            <a:pPr marL="285750" indent="-285750">
              <a:buFont typeface="Arial" panose="020B0604020202020204" pitchFamily="34" charset="0"/>
              <a:buChar char="•"/>
            </a:pPr>
            <a:r>
              <a:rPr lang="en-US" b="1" dirty="0"/>
              <a:t>Normalization</a:t>
            </a:r>
            <a:r>
              <a:rPr lang="en-US" dirty="0"/>
              <a:t>: To scale pixel values to a consistent range (e.g., 0 to 1) for better model performance.</a:t>
            </a:r>
          </a:p>
          <a:p>
            <a:pPr marL="285750" indent="-285750">
              <a:buFont typeface="Arial" panose="020B0604020202020204" pitchFamily="34" charset="0"/>
              <a:buChar char="•"/>
            </a:pPr>
            <a:r>
              <a:rPr lang="en-US" b="1" dirty="0"/>
              <a:t>Resizing</a:t>
            </a:r>
            <a:r>
              <a:rPr lang="en-US" dirty="0"/>
              <a:t>: Adjusting the size of images to ensure they fit the input requirements of the segmentation models.</a:t>
            </a:r>
          </a:p>
          <a:p>
            <a:pPr marL="285750" indent="-285750">
              <a:buFont typeface="Arial" panose="020B0604020202020204" pitchFamily="34" charset="0"/>
              <a:buChar char="•"/>
            </a:pPr>
            <a:r>
              <a:rPr lang="en-US" b="1" dirty="0"/>
              <a:t>Data Augmentation</a:t>
            </a:r>
            <a:r>
              <a:rPr lang="en-US" dirty="0"/>
              <a:t>: Applying transformations (rotation, flipping) to increase the variety and robustness of training data.</a:t>
            </a:r>
          </a:p>
        </p:txBody>
      </p:sp>
    </p:spTree>
    <p:extLst>
      <p:ext uri="{BB962C8B-B14F-4D97-AF65-F5344CB8AC3E}">
        <p14:creationId xmlns:p14="http://schemas.microsoft.com/office/powerpoint/2010/main" val="1871274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E506C-D6C4-0F8D-3036-DE4EB93FD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76B82-C6B0-41D4-795E-3DD7E565EAF7}"/>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a:extLst>
              <a:ext uri="{FF2B5EF4-FFF2-40B4-BE49-F238E27FC236}">
                <a16:creationId xmlns:a16="http://schemas.microsoft.com/office/drawing/2014/main" id="{9EEC8E2A-06DE-8C61-E587-3615B2F00D78}"/>
              </a:ext>
            </a:extLst>
          </p:cNvPr>
          <p:cNvSpPr txBox="1"/>
          <p:nvPr/>
        </p:nvSpPr>
        <p:spPr>
          <a:xfrm>
            <a:off x="971599" y="803834"/>
            <a:ext cx="5420497" cy="523220"/>
          </a:xfrm>
          <a:prstGeom prst="rect">
            <a:avLst/>
          </a:prstGeom>
          <a:noFill/>
        </p:spPr>
        <p:txBody>
          <a:bodyPr wrap="square" rtlCol="0">
            <a:spAutoFit/>
          </a:bodyPr>
          <a:lstStyle/>
          <a:p>
            <a:r>
              <a:rPr lang="en-IN" sz="2800" dirty="0"/>
              <a:t>Explanation of Modules</a:t>
            </a:r>
            <a:endParaRPr lang="en-US" sz="28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Rectangle 2">
            <a:extLst>
              <a:ext uri="{FF2B5EF4-FFF2-40B4-BE49-F238E27FC236}">
                <a16:creationId xmlns:a16="http://schemas.microsoft.com/office/drawing/2014/main" id="{79F6311B-F62D-9884-1D0E-453CDE52DFB0}"/>
              </a:ext>
            </a:extLst>
          </p:cNvPr>
          <p:cNvSpPr>
            <a:spLocks noChangeArrowheads="1"/>
          </p:cNvSpPr>
          <p:nvPr/>
        </p:nvSpPr>
        <p:spPr bwMode="auto">
          <a:xfrm>
            <a:off x="1376031" y="1749599"/>
            <a:ext cx="915223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Prediction &amp; Evaluation</a:t>
            </a:r>
            <a:r>
              <a:rPr lang="en-US" dirty="0"/>
              <a:t>:</a:t>
            </a:r>
          </a:p>
          <a:p>
            <a:pPr marL="285750" indent="-285750">
              <a:buFont typeface="Arial" panose="020B0604020202020204" pitchFamily="34" charset="0"/>
              <a:buChar char="•"/>
            </a:pPr>
            <a:r>
              <a:rPr lang="en-US" b="1" dirty="0"/>
              <a:t>Prediction</a:t>
            </a:r>
            <a:r>
              <a:rPr lang="en-US" dirty="0"/>
              <a:t>: Once trained, both models (</a:t>
            </a:r>
            <a:r>
              <a:rPr lang="en-US" dirty="0" err="1"/>
              <a:t>UNet</a:t>
            </a:r>
            <a:r>
              <a:rPr lang="en-US" dirty="0"/>
              <a:t> and FCN) are applied to new satellite images to detect landslides. The output consists of segmented masks showing landslide regions.</a:t>
            </a:r>
          </a:p>
          <a:p>
            <a:pPr marL="285750" indent="-285750">
              <a:buFont typeface="Arial" panose="020B0604020202020204" pitchFamily="34" charset="0"/>
              <a:buChar char="•"/>
            </a:pPr>
            <a:r>
              <a:rPr lang="en-US" b="1" dirty="0"/>
              <a:t>Evaluation</a:t>
            </a:r>
            <a:r>
              <a:rPr lang="en-US" dirty="0"/>
              <a:t>: Performance is measured using metrics like Precision, Recall, and F1 Score, comparing predicted results with ground truth data.</a:t>
            </a:r>
          </a:p>
        </p:txBody>
      </p:sp>
      <p:sp>
        <p:nvSpPr>
          <p:cNvPr id="3" name="TextBox 2">
            <a:extLst>
              <a:ext uri="{FF2B5EF4-FFF2-40B4-BE49-F238E27FC236}">
                <a16:creationId xmlns:a16="http://schemas.microsoft.com/office/drawing/2014/main" id="{AA47FB65-055C-1B8A-89E2-F73293CC3E7C}"/>
              </a:ext>
            </a:extLst>
          </p:cNvPr>
          <p:cNvSpPr txBox="1"/>
          <p:nvPr/>
        </p:nvSpPr>
        <p:spPr>
          <a:xfrm>
            <a:off x="1376031" y="3745842"/>
            <a:ext cx="8988724" cy="1477328"/>
          </a:xfrm>
          <a:prstGeom prst="rect">
            <a:avLst/>
          </a:prstGeom>
          <a:noFill/>
        </p:spPr>
        <p:txBody>
          <a:bodyPr wrap="square" rtlCol="0">
            <a:spAutoFit/>
          </a:bodyPr>
          <a:lstStyle/>
          <a:p>
            <a:r>
              <a:rPr lang="en-US" b="1" dirty="0"/>
              <a:t>Post-processing &amp; Visualization</a:t>
            </a:r>
            <a:r>
              <a:rPr lang="en-US" dirty="0"/>
              <a:t>:</a:t>
            </a:r>
          </a:p>
          <a:p>
            <a:pPr marL="285750" indent="-285750">
              <a:buFont typeface="Arial" panose="020B0604020202020204" pitchFamily="34" charset="0"/>
              <a:buChar char="•"/>
            </a:pPr>
            <a:r>
              <a:rPr lang="en-US" b="1" dirty="0"/>
              <a:t>Visualization</a:t>
            </a:r>
            <a:r>
              <a:rPr lang="en-US" dirty="0"/>
              <a:t>: The segmented images are overlaid with the ground truth and predictions, providing a visual representation of detected landslides.</a:t>
            </a:r>
          </a:p>
          <a:p>
            <a:pPr marL="285750" indent="-285750">
              <a:buFont typeface="Arial" panose="020B0604020202020204" pitchFamily="34" charset="0"/>
              <a:buChar char="•"/>
            </a:pPr>
            <a:r>
              <a:rPr lang="en-US" b="1" dirty="0"/>
              <a:t>Post-processing</a:t>
            </a:r>
            <a:r>
              <a:rPr lang="en-US" dirty="0"/>
              <a:t>: Enhances the segmentation output by applying morphological operations to refine the boundaries of detected landslides.</a:t>
            </a:r>
          </a:p>
        </p:txBody>
      </p:sp>
    </p:spTree>
    <p:extLst>
      <p:ext uri="{BB962C8B-B14F-4D97-AF65-F5344CB8AC3E}">
        <p14:creationId xmlns:p14="http://schemas.microsoft.com/office/powerpoint/2010/main" val="1638464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92A88-5AB7-CC18-A2C9-CB347427D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30899-4859-6DB6-5FCF-64011D43AB47}"/>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a:extLst>
              <a:ext uri="{FF2B5EF4-FFF2-40B4-BE49-F238E27FC236}">
                <a16:creationId xmlns:a16="http://schemas.microsoft.com/office/drawing/2014/main" id="{7AF881B0-9779-D0F6-B911-23BE066269B3}"/>
              </a:ext>
            </a:extLst>
          </p:cNvPr>
          <p:cNvSpPr txBox="1"/>
          <p:nvPr/>
        </p:nvSpPr>
        <p:spPr>
          <a:xfrm>
            <a:off x="971599" y="803834"/>
            <a:ext cx="5420497" cy="523220"/>
          </a:xfrm>
          <a:prstGeom prst="rect">
            <a:avLst/>
          </a:prstGeom>
          <a:noFill/>
        </p:spPr>
        <p:txBody>
          <a:bodyPr wrap="square" rtlCol="0">
            <a:spAutoFit/>
          </a:bodyPr>
          <a:lstStyle/>
          <a:p>
            <a:r>
              <a:rPr lang="en-US" sz="2800" dirty="0">
                <a:latin typeface="Cascadia Code" panose="020B0609020000020004" pitchFamily="49" charset="0"/>
                <a:ea typeface="Cascadia Code" panose="020B0609020000020004" pitchFamily="49" charset="0"/>
                <a:cs typeface="Cascadia Code" panose="020B0609020000020004" pitchFamily="49" charset="0"/>
              </a:rPr>
              <a:t>Models Architecture</a:t>
            </a:r>
          </a:p>
        </p:txBody>
      </p:sp>
      <p:pic>
        <p:nvPicPr>
          <p:cNvPr id="10" name="Picture 9">
            <a:extLst>
              <a:ext uri="{FF2B5EF4-FFF2-40B4-BE49-F238E27FC236}">
                <a16:creationId xmlns:a16="http://schemas.microsoft.com/office/drawing/2014/main" id="{AAC7FC21-F96F-E453-D7DD-2DF0C1524964}"/>
              </a:ext>
            </a:extLst>
          </p:cNvPr>
          <p:cNvPicPr>
            <a:picLocks noChangeAspect="1"/>
          </p:cNvPicPr>
          <p:nvPr/>
        </p:nvPicPr>
        <p:blipFill>
          <a:blip r:embed="rId2"/>
          <a:stretch>
            <a:fillRect/>
          </a:stretch>
        </p:blipFill>
        <p:spPr>
          <a:xfrm rot="10800000">
            <a:off x="0" y="1579219"/>
            <a:ext cx="12192000" cy="2299406"/>
          </a:xfrm>
          <a:prstGeom prst="rect">
            <a:avLst/>
          </a:prstGeom>
        </p:spPr>
      </p:pic>
      <p:sp>
        <p:nvSpPr>
          <p:cNvPr id="11" name="TextBox 10">
            <a:extLst>
              <a:ext uri="{FF2B5EF4-FFF2-40B4-BE49-F238E27FC236}">
                <a16:creationId xmlns:a16="http://schemas.microsoft.com/office/drawing/2014/main" id="{7FA18A5E-4B6E-CAB9-EEAA-DA6A891401BA}"/>
              </a:ext>
            </a:extLst>
          </p:cNvPr>
          <p:cNvSpPr txBox="1"/>
          <p:nvPr/>
        </p:nvSpPr>
        <p:spPr>
          <a:xfrm>
            <a:off x="132380" y="1209887"/>
            <a:ext cx="777777" cy="369332"/>
          </a:xfrm>
          <a:prstGeom prst="rect">
            <a:avLst/>
          </a:prstGeom>
          <a:noFill/>
        </p:spPr>
        <p:txBody>
          <a:bodyPr wrap="none" rtlCol="0">
            <a:spAutoFit/>
          </a:bodyPr>
          <a:lstStyle/>
          <a:p>
            <a:r>
              <a:rPr lang="en-IN" b="1" dirty="0"/>
              <a:t>UNET</a:t>
            </a:r>
          </a:p>
        </p:txBody>
      </p:sp>
      <p:pic>
        <p:nvPicPr>
          <p:cNvPr id="13" name="Picture 12">
            <a:extLst>
              <a:ext uri="{FF2B5EF4-FFF2-40B4-BE49-F238E27FC236}">
                <a16:creationId xmlns:a16="http://schemas.microsoft.com/office/drawing/2014/main" id="{1D77E50A-AFE8-5E47-C8D0-00A030D6B80A}"/>
              </a:ext>
            </a:extLst>
          </p:cNvPr>
          <p:cNvPicPr>
            <a:picLocks noChangeAspect="1"/>
          </p:cNvPicPr>
          <p:nvPr/>
        </p:nvPicPr>
        <p:blipFill>
          <a:blip r:embed="rId3"/>
          <a:stretch>
            <a:fillRect/>
          </a:stretch>
        </p:blipFill>
        <p:spPr>
          <a:xfrm>
            <a:off x="0" y="4382804"/>
            <a:ext cx="12192000" cy="2299408"/>
          </a:xfrm>
          <a:prstGeom prst="rect">
            <a:avLst/>
          </a:prstGeom>
        </p:spPr>
      </p:pic>
      <p:sp>
        <p:nvSpPr>
          <p:cNvPr id="14" name="TextBox 13">
            <a:extLst>
              <a:ext uri="{FF2B5EF4-FFF2-40B4-BE49-F238E27FC236}">
                <a16:creationId xmlns:a16="http://schemas.microsoft.com/office/drawing/2014/main" id="{1A97FBB0-E3EF-F8CE-8B6C-1F66FC7CA1B4}"/>
              </a:ext>
            </a:extLst>
          </p:cNvPr>
          <p:cNvSpPr txBox="1"/>
          <p:nvPr/>
        </p:nvSpPr>
        <p:spPr>
          <a:xfrm>
            <a:off x="132380" y="3977704"/>
            <a:ext cx="607859" cy="369332"/>
          </a:xfrm>
          <a:prstGeom prst="rect">
            <a:avLst/>
          </a:prstGeom>
          <a:noFill/>
        </p:spPr>
        <p:txBody>
          <a:bodyPr wrap="none" rtlCol="0">
            <a:spAutoFit/>
          </a:bodyPr>
          <a:lstStyle/>
          <a:p>
            <a:r>
              <a:rPr lang="en-IN" b="1" dirty="0"/>
              <a:t>FCN</a:t>
            </a:r>
          </a:p>
        </p:txBody>
      </p:sp>
    </p:spTree>
    <p:extLst>
      <p:ext uri="{BB962C8B-B14F-4D97-AF65-F5344CB8AC3E}">
        <p14:creationId xmlns:p14="http://schemas.microsoft.com/office/powerpoint/2010/main" val="3131703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9567-8C85-D527-AE8F-AB8F1DEA3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0628D-94ED-038D-789C-DAAE72A411D9}"/>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a:extLst>
              <a:ext uri="{FF2B5EF4-FFF2-40B4-BE49-F238E27FC236}">
                <a16:creationId xmlns:a16="http://schemas.microsoft.com/office/drawing/2014/main" id="{04EB6795-B53C-7E3A-4D6E-B1D44EAE2256}"/>
              </a:ext>
            </a:extLst>
          </p:cNvPr>
          <p:cNvSpPr txBox="1"/>
          <p:nvPr/>
        </p:nvSpPr>
        <p:spPr>
          <a:xfrm>
            <a:off x="971599" y="803834"/>
            <a:ext cx="5420497" cy="523220"/>
          </a:xfrm>
          <a:prstGeom prst="rect">
            <a:avLst/>
          </a:prstGeom>
          <a:noFill/>
        </p:spPr>
        <p:txBody>
          <a:bodyPr wrap="square" rtlCol="0">
            <a:spAutoFit/>
          </a:bodyPr>
          <a:lstStyle/>
          <a:p>
            <a:r>
              <a:rPr lang="en-IN" sz="2800" dirty="0"/>
              <a:t>Results Overview</a:t>
            </a:r>
            <a:endParaRPr lang="en-US" sz="28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Rectangle 2">
            <a:extLst>
              <a:ext uri="{FF2B5EF4-FFF2-40B4-BE49-F238E27FC236}">
                <a16:creationId xmlns:a16="http://schemas.microsoft.com/office/drawing/2014/main" id="{60A2ECD5-034E-20F7-744F-CCA4AD2EDE1B}"/>
              </a:ext>
            </a:extLst>
          </p:cNvPr>
          <p:cNvSpPr>
            <a:spLocks noChangeArrowheads="1"/>
          </p:cNvSpPr>
          <p:nvPr/>
        </p:nvSpPr>
        <p:spPr bwMode="auto">
          <a:xfrm>
            <a:off x="1376031" y="1681863"/>
            <a:ext cx="915223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We present the results of the land-slide detection task using the </a:t>
            </a:r>
            <a:r>
              <a:rPr lang="en-US" b="1" dirty="0" err="1"/>
              <a:t>UNet</a:t>
            </a:r>
            <a:r>
              <a:rPr lang="en-US" dirty="0"/>
              <a:t> and </a:t>
            </a:r>
            <a:r>
              <a:rPr lang="en-US" b="1" dirty="0"/>
              <a:t>FCN</a:t>
            </a:r>
            <a:r>
              <a:rPr lang="en-US" dirty="0"/>
              <a:t> models trained on multi-spectral satellite imagery, including </a:t>
            </a:r>
            <a:r>
              <a:rPr lang="en-US" b="1" dirty="0"/>
              <a:t>RGB</a:t>
            </a:r>
            <a:r>
              <a:rPr lang="en-US" dirty="0"/>
              <a:t>, </a:t>
            </a:r>
            <a:r>
              <a:rPr lang="en-US" b="1" dirty="0"/>
              <a:t>NDVI</a:t>
            </a:r>
            <a:r>
              <a:rPr lang="en-US" dirty="0"/>
              <a:t>, </a:t>
            </a:r>
            <a:r>
              <a:rPr lang="en-US" b="1" dirty="0"/>
              <a:t>DEM</a:t>
            </a:r>
            <a:r>
              <a:rPr lang="en-US" dirty="0"/>
              <a:t>, and </a:t>
            </a:r>
            <a:r>
              <a:rPr lang="en-US" b="1" dirty="0"/>
              <a:t>Slope</a:t>
            </a:r>
            <a:r>
              <a:rPr lang="en-US" dirty="0"/>
              <a:t> data. The models were evaluated based on their ability to segment landslide-prone areas, with the key performance metrics being </a:t>
            </a:r>
            <a:r>
              <a:rPr lang="en-US" b="1" dirty="0"/>
              <a:t>Precision</a:t>
            </a:r>
            <a:r>
              <a:rPr lang="en-US" dirty="0"/>
              <a:t>, </a:t>
            </a:r>
            <a:r>
              <a:rPr lang="en-US" b="1" dirty="0"/>
              <a:t>Recall</a:t>
            </a:r>
            <a:r>
              <a:rPr lang="en-US" dirty="0"/>
              <a:t>, and </a:t>
            </a:r>
            <a:r>
              <a:rPr lang="en-US" b="1" dirty="0"/>
              <a:t>F1 Score</a:t>
            </a:r>
            <a:r>
              <a:rPr lang="en-US" dirty="0"/>
              <a:t>. These metrics help assess the models' accuracy in identifying landslide areas and their ability to minimize both false positives and false negatives.</a:t>
            </a:r>
          </a:p>
        </p:txBody>
      </p:sp>
      <p:sp>
        <p:nvSpPr>
          <p:cNvPr id="3" name="TextBox 2">
            <a:extLst>
              <a:ext uri="{FF2B5EF4-FFF2-40B4-BE49-F238E27FC236}">
                <a16:creationId xmlns:a16="http://schemas.microsoft.com/office/drawing/2014/main" id="{963ABDFD-FAC1-04F2-911C-698EB6D5A9CC}"/>
              </a:ext>
            </a:extLst>
          </p:cNvPr>
          <p:cNvSpPr txBox="1"/>
          <p:nvPr/>
        </p:nvSpPr>
        <p:spPr>
          <a:xfrm>
            <a:off x="1376031" y="3745842"/>
            <a:ext cx="8988724" cy="2031325"/>
          </a:xfrm>
          <a:prstGeom prst="rect">
            <a:avLst/>
          </a:prstGeom>
          <a:noFill/>
        </p:spPr>
        <p:txBody>
          <a:bodyPr wrap="square" rtlCol="0">
            <a:spAutoFit/>
          </a:bodyPr>
          <a:lstStyle/>
          <a:p>
            <a:r>
              <a:rPr lang="en-US" b="1" dirty="0"/>
              <a:t>Evaluation Metrics:</a:t>
            </a:r>
          </a:p>
          <a:p>
            <a:pPr>
              <a:buFont typeface="Arial" panose="020B0604020202020204" pitchFamily="34" charset="0"/>
              <a:buChar char="•"/>
            </a:pPr>
            <a:r>
              <a:rPr lang="en-US" b="1" dirty="0"/>
              <a:t>Precision</a:t>
            </a:r>
            <a:r>
              <a:rPr lang="en-US" dirty="0"/>
              <a:t> measures the accuracy of positive predictions, i.e., the proportion of correctly identified landslide pixels out of all the pixels classified as landslide.</a:t>
            </a:r>
          </a:p>
          <a:p>
            <a:pPr>
              <a:buFont typeface="Arial" panose="020B0604020202020204" pitchFamily="34" charset="0"/>
              <a:buChar char="•"/>
            </a:pPr>
            <a:r>
              <a:rPr lang="en-US" b="1" dirty="0"/>
              <a:t>Recall</a:t>
            </a:r>
            <a:r>
              <a:rPr lang="en-US" dirty="0"/>
              <a:t> indicates the model’s ability to correctly identify all actual landslide pixels, focusing on how many of the true landslide pixels are detected.</a:t>
            </a:r>
          </a:p>
          <a:p>
            <a:pPr>
              <a:buFont typeface="Arial" panose="020B0604020202020204" pitchFamily="34" charset="0"/>
              <a:buChar char="•"/>
            </a:pPr>
            <a:r>
              <a:rPr lang="en-US" b="1" dirty="0"/>
              <a:t>F1 Score</a:t>
            </a:r>
            <a:r>
              <a:rPr lang="en-US" dirty="0"/>
              <a:t> is the harmonic mean of precision and recall, providing a balanced measure of the model's ability to identify landslides while minimizing errors.</a:t>
            </a:r>
          </a:p>
        </p:txBody>
      </p:sp>
    </p:spTree>
    <p:extLst>
      <p:ext uri="{BB962C8B-B14F-4D97-AF65-F5344CB8AC3E}">
        <p14:creationId xmlns:p14="http://schemas.microsoft.com/office/powerpoint/2010/main" val="3478310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6BE77-A8AA-4CD5-5968-4E4E54600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6C1E9-08A8-2D4E-D374-D8243F1616F3}"/>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a:extLst>
              <a:ext uri="{FF2B5EF4-FFF2-40B4-BE49-F238E27FC236}">
                <a16:creationId xmlns:a16="http://schemas.microsoft.com/office/drawing/2014/main" id="{A646B4CE-BA91-1E2E-D504-2C7D87E862B2}"/>
              </a:ext>
            </a:extLst>
          </p:cNvPr>
          <p:cNvSpPr txBox="1"/>
          <p:nvPr/>
        </p:nvSpPr>
        <p:spPr>
          <a:xfrm>
            <a:off x="971599" y="803834"/>
            <a:ext cx="5420497" cy="523220"/>
          </a:xfrm>
          <a:prstGeom prst="rect">
            <a:avLst/>
          </a:prstGeom>
          <a:noFill/>
        </p:spPr>
        <p:txBody>
          <a:bodyPr wrap="square" rtlCol="0">
            <a:spAutoFit/>
          </a:bodyPr>
          <a:lstStyle/>
          <a:p>
            <a:r>
              <a:rPr lang="en-IN" sz="2800" b="1" dirty="0"/>
              <a:t>Test Dataset Results</a:t>
            </a:r>
            <a:r>
              <a:rPr lang="en-IN" sz="2800" dirty="0"/>
              <a:t>:</a:t>
            </a:r>
            <a:endParaRPr lang="en-IN" sz="2800" b="1" dirty="0"/>
          </a:p>
        </p:txBody>
      </p:sp>
      <p:sp>
        <p:nvSpPr>
          <p:cNvPr id="7" name="Rectangle 2">
            <a:extLst>
              <a:ext uri="{FF2B5EF4-FFF2-40B4-BE49-F238E27FC236}">
                <a16:creationId xmlns:a16="http://schemas.microsoft.com/office/drawing/2014/main" id="{D574EEF4-D118-4DEE-16F3-AD5F674793AA}"/>
              </a:ext>
            </a:extLst>
          </p:cNvPr>
          <p:cNvSpPr>
            <a:spLocks noChangeArrowheads="1"/>
          </p:cNvSpPr>
          <p:nvPr/>
        </p:nvSpPr>
        <p:spPr bwMode="auto">
          <a:xfrm>
            <a:off x="1519881" y="1519528"/>
            <a:ext cx="915223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Both models were evaluated on a test dataset containing multi-spectral satellite images and their corresponding ground truth for landslide detection. The performance metrics for both models on the test data are summarized below.</a:t>
            </a:r>
          </a:p>
          <a:p>
            <a:pPr>
              <a:buFont typeface="Arial" panose="020B0604020202020204" pitchFamily="34" charset="0"/>
              <a:buChar char="•"/>
            </a:pPr>
            <a:r>
              <a:rPr lang="en-US" b="1" dirty="0" err="1"/>
              <a:t>UNet</a:t>
            </a:r>
            <a:r>
              <a:rPr lang="en-US" dirty="0"/>
              <a:t> achieved a </a:t>
            </a:r>
            <a:r>
              <a:rPr lang="en-US" b="1" dirty="0"/>
              <a:t>Precision</a:t>
            </a:r>
            <a:r>
              <a:rPr lang="en-US" dirty="0"/>
              <a:t> of </a:t>
            </a:r>
            <a:r>
              <a:rPr lang="en-US" b="1" dirty="0"/>
              <a:t>0.78</a:t>
            </a:r>
            <a:r>
              <a:rPr lang="en-US" dirty="0"/>
              <a:t>, a </a:t>
            </a:r>
            <a:r>
              <a:rPr lang="en-US" b="1" dirty="0"/>
              <a:t>Recall</a:t>
            </a:r>
            <a:r>
              <a:rPr lang="en-US" dirty="0"/>
              <a:t> of </a:t>
            </a:r>
            <a:r>
              <a:rPr lang="en-US" b="1" dirty="0"/>
              <a:t>0.68</a:t>
            </a:r>
            <a:r>
              <a:rPr lang="en-US" dirty="0"/>
              <a:t>, and an </a:t>
            </a:r>
            <a:r>
              <a:rPr lang="en-US" b="1" dirty="0"/>
              <a:t>F1 Score</a:t>
            </a:r>
            <a:r>
              <a:rPr lang="en-US" dirty="0"/>
              <a:t> of </a:t>
            </a:r>
            <a:r>
              <a:rPr lang="en-US" b="1" dirty="0"/>
              <a:t>0.72</a:t>
            </a:r>
            <a:r>
              <a:rPr lang="en-US" dirty="0"/>
              <a:t> on the test data, indicating good segmentation performance with balanced detection and error rates.</a:t>
            </a:r>
          </a:p>
          <a:p>
            <a:pPr>
              <a:buFont typeface="Arial" panose="020B0604020202020204" pitchFamily="34" charset="0"/>
              <a:buChar char="•"/>
            </a:pPr>
            <a:r>
              <a:rPr lang="en-US" b="1" dirty="0"/>
              <a:t>FCN</a:t>
            </a:r>
            <a:r>
              <a:rPr lang="en-US" dirty="0"/>
              <a:t> achieved a </a:t>
            </a:r>
            <a:r>
              <a:rPr lang="en-US" b="1" dirty="0"/>
              <a:t>Precision</a:t>
            </a:r>
            <a:r>
              <a:rPr lang="en-US" dirty="0"/>
              <a:t> of </a:t>
            </a:r>
            <a:r>
              <a:rPr lang="en-US" b="1" dirty="0"/>
              <a:t>0.73</a:t>
            </a:r>
            <a:r>
              <a:rPr lang="en-US" dirty="0"/>
              <a:t>, a </a:t>
            </a:r>
            <a:r>
              <a:rPr lang="en-US" b="1" dirty="0"/>
              <a:t>Recall</a:t>
            </a:r>
            <a:r>
              <a:rPr lang="en-US" dirty="0"/>
              <a:t> of </a:t>
            </a:r>
            <a:r>
              <a:rPr lang="en-US" b="1" dirty="0"/>
              <a:t>0.64</a:t>
            </a:r>
            <a:r>
              <a:rPr lang="en-US" dirty="0"/>
              <a:t>, and an </a:t>
            </a:r>
            <a:r>
              <a:rPr lang="en-US" b="1" dirty="0"/>
              <a:t>F1 Score</a:t>
            </a:r>
            <a:r>
              <a:rPr lang="en-US" dirty="0"/>
              <a:t> of </a:t>
            </a:r>
            <a:r>
              <a:rPr lang="en-US" b="1" dirty="0"/>
              <a:t>0.68</a:t>
            </a:r>
            <a:r>
              <a:rPr lang="en-US" dirty="0"/>
              <a:t> on the test data. While the precision was lower than that of </a:t>
            </a:r>
            <a:r>
              <a:rPr lang="en-US" b="1" dirty="0" err="1"/>
              <a:t>UNet</a:t>
            </a:r>
            <a:r>
              <a:rPr lang="en-US" dirty="0"/>
              <a:t>, it still performed reasonably well in identifying landslide areas, albeit with a slightly higher rate of false negatives (lower recall).</a:t>
            </a:r>
          </a:p>
        </p:txBody>
      </p:sp>
      <p:pic>
        <p:nvPicPr>
          <p:cNvPr id="6" name="Picture 5">
            <a:extLst>
              <a:ext uri="{FF2B5EF4-FFF2-40B4-BE49-F238E27FC236}">
                <a16:creationId xmlns:a16="http://schemas.microsoft.com/office/drawing/2014/main" id="{D66DD192-C433-C921-0BAE-492061C4B7CC}"/>
              </a:ext>
            </a:extLst>
          </p:cNvPr>
          <p:cNvPicPr>
            <a:picLocks noChangeAspect="1"/>
          </p:cNvPicPr>
          <p:nvPr/>
        </p:nvPicPr>
        <p:blipFill>
          <a:blip r:embed="rId2"/>
          <a:stretch>
            <a:fillRect/>
          </a:stretch>
        </p:blipFill>
        <p:spPr>
          <a:xfrm>
            <a:off x="2060508" y="4184310"/>
            <a:ext cx="7240010" cy="2200582"/>
          </a:xfrm>
          <a:prstGeom prst="rect">
            <a:avLst/>
          </a:prstGeom>
        </p:spPr>
      </p:pic>
    </p:spTree>
    <p:extLst>
      <p:ext uri="{BB962C8B-B14F-4D97-AF65-F5344CB8AC3E}">
        <p14:creationId xmlns:p14="http://schemas.microsoft.com/office/powerpoint/2010/main" val="3361241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7EF07-3526-33CC-C5C0-02AF55860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CD1B1-5ACE-E93D-208F-ACCE083336B8}"/>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a:extLst>
              <a:ext uri="{FF2B5EF4-FFF2-40B4-BE49-F238E27FC236}">
                <a16:creationId xmlns:a16="http://schemas.microsoft.com/office/drawing/2014/main" id="{282B0A86-EF68-E968-FB1B-5C3813518D65}"/>
              </a:ext>
            </a:extLst>
          </p:cNvPr>
          <p:cNvSpPr txBox="1"/>
          <p:nvPr/>
        </p:nvSpPr>
        <p:spPr>
          <a:xfrm>
            <a:off x="971599" y="803834"/>
            <a:ext cx="5420497" cy="523220"/>
          </a:xfrm>
          <a:prstGeom prst="rect">
            <a:avLst/>
          </a:prstGeom>
          <a:noFill/>
        </p:spPr>
        <p:txBody>
          <a:bodyPr wrap="square" rtlCol="0">
            <a:spAutoFit/>
          </a:bodyPr>
          <a:lstStyle/>
          <a:p>
            <a:r>
              <a:rPr lang="en-IN" sz="2800" b="1" dirty="0"/>
              <a:t>Findings and Key Observations:</a:t>
            </a:r>
          </a:p>
        </p:txBody>
      </p:sp>
      <p:sp>
        <p:nvSpPr>
          <p:cNvPr id="7" name="Rectangle 2">
            <a:extLst>
              <a:ext uri="{FF2B5EF4-FFF2-40B4-BE49-F238E27FC236}">
                <a16:creationId xmlns:a16="http://schemas.microsoft.com/office/drawing/2014/main" id="{3735B929-C570-9275-4B90-C616B7F21FC9}"/>
              </a:ext>
            </a:extLst>
          </p:cNvPr>
          <p:cNvSpPr>
            <a:spLocks noChangeArrowheads="1"/>
          </p:cNvSpPr>
          <p:nvPr/>
        </p:nvSpPr>
        <p:spPr bwMode="auto">
          <a:xfrm>
            <a:off x="1519881" y="2051650"/>
            <a:ext cx="915223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Both models showed a similar </a:t>
            </a:r>
            <a:r>
              <a:rPr lang="en-US" b="1" dirty="0"/>
              <a:t>Precision</a:t>
            </a:r>
            <a:r>
              <a:rPr lang="en-US" dirty="0"/>
              <a:t> on the test dataset, but </a:t>
            </a:r>
            <a:r>
              <a:rPr lang="en-US" b="1" dirty="0" err="1"/>
              <a:t>UNet</a:t>
            </a:r>
            <a:r>
              <a:rPr lang="en-US" dirty="0"/>
              <a:t> outperformed </a:t>
            </a:r>
            <a:r>
              <a:rPr lang="en-US" b="1" dirty="0"/>
              <a:t>FCN</a:t>
            </a:r>
            <a:r>
              <a:rPr lang="en-US" dirty="0"/>
              <a:t> in terms of </a:t>
            </a:r>
            <a:r>
              <a:rPr lang="en-US" b="1" dirty="0"/>
              <a:t>Recall</a:t>
            </a:r>
            <a:r>
              <a:rPr lang="en-US" dirty="0"/>
              <a:t> and </a:t>
            </a:r>
            <a:r>
              <a:rPr lang="en-US" b="1" dirty="0"/>
              <a:t>F1 Score</a:t>
            </a:r>
            <a:r>
              <a:rPr lang="en-US" dirty="0"/>
              <a:t>. This suggests that </a:t>
            </a:r>
            <a:r>
              <a:rPr lang="en-US" b="1" dirty="0" err="1"/>
              <a:t>UNet</a:t>
            </a:r>
            <a:r>
              <a:rPr lang="en-US" dirty="0"/>
              <a:t> was more effective at detecting the true landslide regions with fewer false negatives.</a:t>
            </a:r>
          </a:p>
          <a:p>
            <a:r>
              <a:rPr lang="en-US" b="1" dirty="0"/>
              <a:t>FCN</a:t>
            </a:r>
            <a:r>
              <a:rPr lang="en-US" dirty="0"/>
              <a:t> demonstrated slightly lower performance in terms of recall and F1 Score, indicating that while it can segment landslides effectively, it may miss some areas that are classified as non-landslide regions.</a:t>
            </a:r>
          </a:p>
          <a:p>
            <a:r>
              <a:rPr lang="en-US" dirty="0"/>
              <a:t>The models performed consistently across both </a:t>
            </a:r>
            <a:r>
              <a:rPr lang="en-US" b="1" dirty="0"/>
              <a:t>validation</a:t>
            </a:r>
            <a:r>
              <a:rPr lang="en-US" dirty="0"/>
              <a:t> and </a:t>
            </a:r>
            <a:r>
              <a:rPr lang="en-US" b="1" dirty="0"/>
              <a:t>test</a:t>
            </a:r>
            <a:r>
              <a:rPr lang="en-US" dirty="0"/>
              <a:t> datasets, with </a:t>
            </a:r>
            <a:r>
              <a:rPr lang="en-US" b="1" dirty="0" err="1"/>
              <a:t>UNet</a:t>
            </a:r>
            <a:r>
              <a:rPr lang="en-US" dirty="0"/>
              <a:t> showing a small but significant improvement in all key metrics, particularly in recall and F1 score.</a:t>
            </a:r>
          </a:p>
        </p:txBody>
      </p:sp>
    </p:spTree>
    <p:extLst>
      <p:ext uri="{BB962C8B-B14F-4D97-AF65-F5344CB8AC3E}">
        <p14:creationId xmlns:p14="http://schemas.microsoft.com/office/powerpoint/2010/main" val="3413704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B29FC-666C-6CC8-FC01-246157736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07C9C-919A-0DD7-6D2A-8689700F18F6}"/>
              </a:ext>
            </a:extLst>
          </p:cNvPr>
          <p:cNvSpPr>
            <a:spLocks noGrp="1"/>
          </p:cNvSpPr>
          <p:nvPr>
            <p:ph type="title"/>
          </p:nvPr>
        </p:nvSpPr>
        <p:spPr>
          <a:xfrm>
            <a:off x="1894702" y="881448"/>
            <a:ext cx="7405816" cy="2158313"/>
          </a:xfrm>
        </p:spPr>
        <p:txBody>
          <a:bodyPr/>
          <a:lstStyle/>
          <a:p>
            <a:r>
              <a:rPr lang="en-US" b="1" dirty="0">
                <a:latin typeface="Cascadia Code" panose="020B0609020000020004" pitchFamily="49" charset="0"/>
                <a:ea typeface="Cascadia Code" panose="020B0609020000020004" pitchFamily="49" charset="0"/>
                <a:cs typeface="Cascadia Code" panose="020B0609020000020004" pitchFamily="49" charset="0"/>
              </a:rPr>
              <a:t> </a:t>
            </a:r>
          </a:p>
        </p:txBody>
      </p:sp>
      <p:sp>
        <p:nvSpPr>
          <p:cNvPr id="5" name="TextBox 4">
            <a:extLst>
              <a:ext uri="{FF2B5EF4-FFF2-40B4-BE49-F238E27FC236}">
                <a16:creationId xmlns:a16="http://schemas.microsoft.com/office/drawing/2014/main" id="{AD1B8A45-B81C-88E2-903B-113DB3F4D6C8}"/>
              </a:ext>
            </a:extLst>
          </p:cNvPr>
          <p:cNvSpPr txBox="1"/>
          <p:nvPr/>
        </p:nvSpPr>
        <p:spPr>
          <a:xfrm>
            <a:off x="971599" y="803834"/>
            <a:ext cx="5420497" cy="523220"/>
          </a:xfrm>
          <a:prstGeom prst="rect">
            <a:avLst/>
          </a:prstGeom>
          <a:noFill/>
        </p:spPr>
        <p:txBody>
          <a:bodyPr wrap="square" rtlCol="0">
            <a:spAutoFit/>
          </a:bodyPr>
          <a:lstStyle/>
          <a:p>
            <a:r>
              <a:rPr lang="en-IN" sz="2800" b="1" dirty="0"/>
              <a:t>Visual Results</a:t>
            </a:r>
            <a:r>
              <a:rPr lang="en-IN" sz="2800" dirty="0"/>
              <a:t>:</a:t>
            </a:r>
            <a:endParaRPr lang="en-IN" sz="2800" b="1" dirty="0"/>
          </a:p>
        </p:txBody>
      </p:sp>
      <p:sp>
        <p:nvSpPr>
          <p:cNvPr id="7" name="Rectangle 2">
            <a:extLst>
              <a:ext uri="{FF2B5EF4-FFF2-40B4-BE49-F238E27FC236}">
                <a16:creationId xmlns:a16="http://schemas.microsoft.com/office/drawing/2014/main" id="{8736D124-D4A3-7E76-7294-8B332FB169C2}"/>
              </a:ext>
            </a:extLst>
          </p:cNvPr>
          <p:cNvSpPr>
            <a:spLocks noChangeArrowheads="1"/>
          </p:cNvSpPr>
          <p:nvPr/>
        </p:nvSpPr>
        <p:spPr bwMode="auto">
          <a:xfrm>
            <a:off x="1450870" y="1562433"/>
            <a:ext cx="915223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The visual segmentation results of both models were also evaluated by comparing the predicted landslide areas with the ground truth segmentation. In general, </a:t>
            </a:r>
            <a:r>
              <a:rPr lang="en-US" b="1" dirty="0" err="1"/>
              <a:t>UNet</a:t>
            </a:r>
            <a:r>
              <a:rPr lang="en-US" dirty="0"/>
              <a:t> produced more accurate and precise boundaries for the landslide areas, while </a:t>
            </a:r>
            <a:r>
              <a:rPr lang="en-US" b="1" dirty="0"/>
              <a:t>FCN</a:t>
            </a:r>
            <a:r>
              <a:rPr lang="en-US" dirty="0"/>
              <a:t> showed some misclassifications in the finer details of the landslide regions, especially in areas with complex terrain or unclear boundaries.</a:t>
            </a:r>
          </a:p>
        </p:txBody>
      </p:sp>
      <p:pic>
        <p:nvPicPr>
          <p:cNvPr id="4" name="Picture 3">
            <a:extLst>
              <a:ext uri="{FF2B5EF4-FFF2-40B4-BE49-F238E27FC236}">
                <a16:creationId xmlns:a16="http://schemas.microsoft.com/office/drawing/2014/main" id="{F8F41D11-1442-42A1-FEA1-75BAE6DA92C0}"/>
              </a:ext>
            </a:extLst>
          </p:cNvPr>
          <p:cNvPicPr>
            <a:picLocks noChangeAspect="1"/>
          </p:cNvPicPr>
          <p:nvPr/>
        </p:nvPicPr>
        <p:blipFill>
          <a:blip r:embed="rId2"/>
          <a:stretch>
            <a:fillRect/>
          </a:stretch>
        </p:blipFill>
        <p:spPr>
          <a:xfrm>
            <a:off x="1450870" y="3039761"/>
            <a:ext cx="10104640" cy="1834164"/>
          </a:xfrm>
          <a:prstGeom prst="rect">
            <a:avLst/>
          </a:prstGeom>
        </p:spPr>
      </p:pic>
      <p:sp>
        <p:nvSpPr>
          <p:cNvPr id="6" name="TextBox 5">
            <a:extLst>
              <a:ext uri="{FF2B5EF4-FFF2-40B4-BE49-F238E27FC236}">
                <a16:creationId xmlns:a16="http://schemas.microsoft.com/office/drawing/2014/main" id="{4057E103-FE46-CA44-ED01-B2707FC0533F}"/>
              </a:ext>
            </a:extLst>
          </p:cNvPr>
          <p:cNvSpPr txBox="1"/>
          <p:nvPr/>
        </p:nvSpPr>
        <p:spPr>
          <a:xfrm>
            <a:off x="250166" y="3117375"/>
            <a:ext cx="755335" cy="369332"/>
          </a:xfrm>
          <a:prstGeom prst="rect">
            <a:avLst/>
          </a:prstGeom>
          <a:noFill/>
        </p:spPr>
        <p:txBody>
          <a:bodyPr wrap="none" rtlCol="0">
            <a:spAutoFit/>
          </a:bodyPr>
          <a:lstStyle/>
          <a:p>
            <a:r>
              <a:rPr lang="en-IN" dirty="0"/>
              <a:t>UNET</a:t>
            </a:r>
          </a:p>
        </p:txBody>
      </p:sp>
      <p:pic>
        <p:nvPicPr>
          <p:cNvPr id="9" name="Picture 8">
            <a:extLst>
              <a:ext uri="{FF2B5EF4-FFF2-40B4-BE49-F238E27FC236}">
                <a16:creationId xmlns:a16="http://schemas.microsoft.com/office/drawing/2014/main" id="{C5C7590D-8002-1656-E781-D9FA4EAB5538}"/>
              </a:ext>
            </a:extLst>
          </p:cNvPr>
          <p:cNvPicPr>
            <a:picLocks noChangeAspect="1"/>
          </p:cNvPicPr>
          <p:nvPr/>
        </p:nvPicPr>
        <p:blipFill>
          <a:blip r:embed="rId3"/>
          <a:stretch>
            <a:fillRect/>
          </a:stretch>
        </p:blipFill>
        <p:spPr>
          <a:xfrm>
            <a:off x="1481062" y="5023836"/>
            <a:ext cx="10044255" cy="1834164"/>
          </a:xfrm>
          <a:prstGeom prst="rect">
            <a:avLst/>
          </a:prstGeom>
        </p:spPr>
      </p:pic>
      <p:sp>
        <p:nvSpPr>
          <p:cNvPr id="10" name="TextBox 9">
            <a:extLst>
              <a:ext uri="{FF2B5EF4-FFF2-40B4-BE49-F238E27FC236}">
                <a16:creationId xmlns:a16="http://schemas.microsoft.com/office/drawing/2014/main" id="{3385CA3A-0505-0140-C579-745131028F1B}"/>
              </a:ext>
            </a:extLst>
          </p:cNvPr>
          <p:cNvSpPr txBox="1"/>
          <p:nvPr/>
        </p:nvSpPr>
        <p:spPr>
          <a:xfrm>
            <a:off x="250166" y="5295567"/>
            <a:ext cx="598241" cy="369332"/>
          </a:xfrm>
          <a:prstGeom prst="rect">
            <a:avLst/>
          </a:prstGeom>
          <a:noFill/>
        </p:spPr>
        <p:txBody>
          <a:bodyPr wrap="none" rtlCol="0">
            <a:spAutoFit/>
          </a:bodyPr>
          <a:lstStyle/>
          <a:p>
            <a:r>
              <a:rPr lang="en-IN" dirty="0"/>
              <a:t>FCN</a:t>
            </a:r>
          </a:p>
        </p:txBody>
      </p:sp>
    </p:spTree>
    <p:extLst>
      <p:ext uri="{BB962C8B-B14F-4D97-AF65-F5344CB8AC3E}">
        <p14:creationId xmlns:p14="http://schemas.microsoft.com/office/powerpoint/2010/main" val="2789774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8200-0985-4DED-A84B-D6ADED92FAE6}"/>
              </a:ext>
            </a:extLst>
          </p:cNvPr>
          <p:cNvSpPr>
            <a:spLocks noGrp="1"/>
          </p:cNvSpPr>
          <p:nvPr>
            <p:ph type="title"/>
          </p:nvPr>
        </p:nvSpPr>
        <p:spPr>
          <a:xfrm>
            <a:off x="685801" y="980303"/>
            <a:ext cx="5097161" cy="815156"/>
          </a:xfrm>
        </p:spPr>
        <p:txBody>
          <a:bodyPr>
            <a:normAutofit/>
          </a:bodyPr>
          <a:lstStyle/>
          <a:p>
            <a:r>
              <a:rPr lang="en-IN" sz="2800" b="1" dirty="0"/>
              <a:t>Research Paper Status</a:t>
            </a:r>
          </a:p>
        </p:txBody>
      </p:sp>
      <p:sp>
        <p:nvSpPr>
          <p:cNvPr id="3" name="Content Placeholder 2">
            <a:extLst>
              <a:ext uri="{FF2B5EF4-FFF2-40B4-BE49-F238E27FC236}">
                <a16:creationId xmlns:a16="http://schemas.microsoft.com/office/drawing/2014/main" id="{90E8A47E-9D4A-4D70-B23A-B0AC3757292F}"/>
              </a:ext>
            </a:extLst>
          </p:cNvPr>
          <p:cNvSpPr>
            <a:spLocks noGrp="1"/>
          </p:cNvSpPr>
          <p:nvPr>
            <p:ph idx="1"/>
          </p:nvPr>
        </p:nvSpPr>
        <p:spPr>
          <a:xfrm>
            <a:off x="1364024" y="2028373"/>
            <a:ext cx="8466437" cy="3587423"/>
          </a:xfrm>
        </p:spPr>
        <p:txBody>
          <a:bodyPr>
            <a:normAutofit lnSpcReduction="10000"/>
          </a:bodyPr>
          <a:lstStyle/>
          <a:p>
            <a:r>
              <a:rPr lang="en-US" b="1" dirty="0"/>
              <a:t>Completed</a:t>
            </a:r>
            <a:r>
              <a:rPr lang="en-US" dirty="0"/>
              <a:t>:</a:t>
            </a:r>
          </a:p>
          <a:p>
            <a:pPr>
              <a:buFont typeface="Arial" panose="020B0604020202020204" pitchFamily="34" charset="0"/>
              <a:buChar char="•"/>
            </a:pPr>
            <a:r>
              <a:rPr lang="en-US" dirty="0"/>
              <a:t>Introduction and Problem Statement sections are complete.</a:t>
            </a:r>
          </a:p>
          <a:p>
            <a:pPr>
              <a:buFont typeface="Arial" panose="020B0604020202020204" pitchFamily="34" charset="0"/>
              <a:buChar char="•"/>
            </a:pPr>
            <a:r>
              <a:rPr lang="en-US" dirty="0"/>
              <a:t>The objectives and methodology have been outlined and explained.</a:t>
            </a:r>
          </a:p>
          <a:p>
            <a:pPr>
              <a:buFont typeface="Arial" panose="020B0604020202020204" pitchFamily="34" charset="0"/>
              <a:buChar char="•"/>
            </a:pPr>
            <a:r>
              <a:rPr lang="en-US" dirty="0"/>
              <a:t>Proposed system diagram and model architecture are prepared.</a:t>
            </a:r>
          </a:p>
          <a:p>
            <a:pPr>
              <a:buFont typeface="Arial" panose="020B0604020202020204" pitchFamily="34" charset="0"/>
              <a:buChar char="•"/>
            </a:pPr>
            <a:r>
              <a:rPr lang="en-US" dirty="0"/>
              <a:t>Initial results and evaluation have been documented with corresponding metrics.</a:t>
            </a:r>
            <a:endParaRPr lang="en-US" b="1" dirty="0"/>
          </a:p>
          <a:p>
            <a:pPr marL="0" indent="0">
              <a:buNone/>
            </a:pPr>
            <a:r>
              <a:rPr lang="en-US" b="1" dirty="0"/>
              <a:t>In Progress</a:t>
            </a:r>
            <a:r>
              <a:rPr lang="en-US" dirty="0"/>
              <a:t>:</a:t>
            </a:r>
          </a:p>
          <a:p>
            <a:pPr>
              <a:buFont typeface="Arial" panose="020B0604020202020204" pitchFamily="34" charset="0"/>
              <a:buChar char="•"/>
            </a:pPr>
            <a:r>
              <a:rPr lang="en-US" dirty="0"/>
              <a:t>Further tuning of the model parameters and finalizing the results.</a:t>
            </a:r>
          </a:p>
          <a:p>
            <a:pPr>
              <a:buFont typeface="Arial" panose="020B0604020202020204" pitchFamily="34" charset="0"/>
              <a:buChar char="•"/>
            </a:pPr>
            <a:r>
              <a:rPr lang="en-US" dirty="0"/>
              <a:t>Addition of further visualizations, graphs, and tables for comparison.</a:t>
            </a:r>
          </a:p>
          <a:p>
            <a:pPr>
              <a:buFont typeface="Arial" panose="020B0604020202020204" pitchFamily="34" charset="0"/>
              <a:buChar char="•"/>
            </a:pPr>
            <a:r>
              <a:rPr lang="en-US" dirty="0"/>
              <a:t>Finalizing the Discussion and Conclusion sections based on results.</a:t>
            </a:r>
          </a:p>
          <a:p>
            <a:pPr>
              <a:buFont typeface="Arial" panose="020B0604020202020204" pitchFamily="34" charset="0"/>
              <a:buChar char="•"/>
            </a:pPr>
            <a:endParaRPr lang="en-US" dirty="0"/>
          </a:p>
          <a:p>
            <a:pPr marL="0" indent="0">
              <a:buNone/>
            </a:pPr>
            <a:endParaRPr lang="en-US" dirty="0"/>
          </a:p>
        </p:txBody>
      </p:sp>
    </p:spTree>
    <p:extLst>
      <p:ext uri="{BB962C8B-B14F-4D97-AF65-F5344CB8AC3E}">
        <p14:creationId xmlns:p14="http://schemas.microsoft.com/office/powerpoint/2010/main" val="277620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685801" y="996778"/>
            <a:ext cx="3795583" cy="872822"/>
          </a:xfrm>
        </p:spPr>
        <p:txBody>
          <a:bodyPr>
            <a:normAutofit/>
          </a:bodyPr>
          <a:lstStyle/>
          <a:p>
            <a:r>
              <a:rPr lang="en-US" sz="2700" dirty="0">
                <a:latin typeface="Cascadia Code" panose="020B0609020000020004" pitchFamily="49" charset="0"/>
                <a:ea typeface="Cascadia Code" panose="020B0609020000020004" pitchFamily="49" charset="0"/>
                <a:cs typeface="Cascadia Code" panose="020B0609020000020004" pitchFamily="49" charset="0"/>
              </a:rPr>
              <a:t>REFERENCES : </a:t>
            </a:r>
          </a:p>
        </p:txBody>
      </p:sp>
      <p:sp>
        <p:nvSpPr>
          <p:cNvPr id="7" name="TextBox 6">
            <a:extLst>
              <a:ext uri="{FF2B5EF4-FFF2-40B4-BE49-F238E27FC236}">
                <a16:creationId xmlns:a16="http://schemas.microsoft.com/office/drawing/2014/main" id="{2270AB39-3031-3A10-E0AB-213657FB7269}"/>
              </a:ext>
            </a:extLst>
          </p:cNvPr>
          <p:cNvSpPr txBox="1"/>
          <p:nvPr/>
        </p:nvSpPr>
        <p:spPr>
          <a:xfrm>
            <a:off x="1244359" y="2001176"/>
            <a:ext cx="9590418" cy="3693319"/>
          </a:xfrm>
          <a:prstGeom prst="rect">
            <a:avLst/>
          </a:prstGeom>
          <a:noFill/>
        </p:spPr>
        <p:txBody>
          <a:bodyPr wrap="square">
            <a:spAutoFit/>
          </a:bodyPr>
          <a:lstStyle/>
          <a:p>
            <a:pPr marL="342900" indent="-342900">
              <a:buAutoNum type="arabicPeriod"/>
            </a:pPr>
            <a:r>
              <a:rPr lang="en-US" dirty="0"/>
              <a:t>Bui, D.T., et al. (2016). "Spatial prediction of landslides using a hybrid machine learning approach based on logistic regression and support vector machines." </a:t>
            </a:r>
            <a:r>
              <a:rPr lang="en-US" b="1" dirty="0"/>
              <a:t>Geomorphology</a:t>
            </a:r>
            <a:r>
              <a:rPr lang="en-US" dirty="0"/>
              <a:t>, 283, 90-98.</a:t>
            </a:r>
          </a:p>
          <a:p>
            <a:pPr marL="342900" indent="-342900">
              <a:buAutoNum type="arabicPeriod"/>
            </a:pPr>
            <a:r>
              <a:rPr lang="en-US" dirty="0"/>
              <a:t>Meena, S.R., et al. (2019). "Landslide susceptibility prediction using convolutional neural networks: A case study of Nepal." </a:t>
            </a:r>
            <a:r>
              <a:rPr lang="en-US" b="1" dirty="0"/>
              <a:t>Remote Sensing</a:t>
            </a:r>
            <a:r>
              <a:rPr lang="en-US" dirty="0"/>
              <a:t>, 11(20), 2397.</a:t>
            </a:r>
          </a:p>
          <a:p>
            <a:pPr marL="342900" indent="-342900">
              <a:buAutoNum type="arabicPeriod"/>
            </a:pPr>
            <a:r>
              <a:rPr lang="en-IN" dirty="0"/>
              <a:t>Sameen, M.I., et al. (2020). "Landslide susceptibility mapping using convolutional neural network with multi-source geospatial data." </a:t>
            </a:r>
            <a:r>
              <a:rPr lang="en-IN" b="1" dirty="0"/>
              <a:t>Landslides</a:t>
            </a:r>
            <a:r>
              <a:rPr lang="en-IN" dirty="0"/>
              <a:t>, 17, 227-242.</a:t>
            </a:r>
            <a:endParaRPr lang="en-US" dirty="0"/>
          </a:p>
          <a:p>
            <a:pPr marL="342900" indent="-342900">
              <a:buAutoNum type="arabicPeriod"/>
            </a:pPr>
            <a:r>
              <a:rPr lang="en-IN" dirty="0" err="1"/>
              <a:t>Ronneberger</a:t>
            </a:r>
            <a:r>
              <a:rPr lang="en-IN" dirty="0"/>
              <a:t>, O., Fischer, P., &amp; </a:t>
            </a:r>
            <a:r>
              <a:rPr lang="en-IN" dirty="0" err="1"/>
              <a:t>Brox</a:t>
            </a:r>
            <a:r>
              <a:rPr lang="en-IN" dirty="0"/>
              <a:t>, T. (2015). "U-Net: Convolutional networks for biomedical image segmentation." </a:t>
            </a:r>
            <a:r>
              <a:rPr lang="en-IN" b="1" dirty="0"/>
              <a:t>International Conference on Medical Image Computing and Computer-Assisted Intervention (MICCAI)</a:t>
            </a:r>
            <a:r>
              <a:rPr lang="en-IN" dirty="0"/>
              <a:t>, 234-241.</a:t>
            </a:r>
            <a:endParaRPr lang="en-US" dirty="0"/>
          </a:p>
          <a:p>
            <a:pPr marL="342900" indent="-342900">
              <a:buAutoNum type="arabicPeriod"/>
            </a:pPr>
            <a:r>
              <a:rPr lang="en-US" dirty="0"/>
              <a:t>Wang, T., et al. (2021). "Landslide detection from satellite imagery using U-Net deep learning model." </a:t>
            </a:r>
            <a:r>
              <a:rPr lang="en-US" b="1" dirty="0"/>
              <a:t>IEEE Access</a:t>
            </a:r>
            <a:r>
              <a:rPr lang="en-US" dirty="0"/>
              <a:t>, 9, 19956-19970.</a:t>
            </a:r>
          </a:p>
          <a:p>
            <a:pPr marL="342900" indent="-342900">
              <a:buAutoNum type="arabicPeriod"/>
            </a:pPr>
            <a:r>
              <a:rPr lang="en-US" dirty="0"/>
              <a:t>Lu, X., et al. (2022). "Hybrid CNN and U-Net Model for Landslide Detection and Prediction in Complex Terrain." </a:t>
            </a:r>
            <a:r>
              <a:rPr lang="en-US" b="1" dirty="0"/>
              <a:t>Remote Sensing</a:t>
            </a:r>
            <a:r>
              <a:rPr lang="en-US" dirty="0"/>
              <a:t>, 14(5), 1056.</a:t>
            </a:r>
            <a:endParaRPr lang="en-IN" dirty="0"/>
          </a:p>
        </p:txBody>
      </p:sp>
    </p:spTree>
    <p:extLst>
      <p:ext uri="{BB962C8B-B14F-4D97-AF65-F5344CB8AC3E}">
        <p14:creationId xmlns:p14="http://schemas.microsoft.com/office/powerpoint/2010/main" val="23945982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38C25A74-1E0C-4362-AFA3-6197BD285F3A}">
  <ds:schemaRefs>
    <ds:schemaRef ds:uri="http://schemas.microsoft.com/sharepoint/v3/contenttype/forms"/>
  </ds:schemaRefs>
</ds:datastoreItem>
</file>

<file path=customXml/itemProps2.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C94942-C689-461B-8649-1FD863C6BA2B}">
  <ds:schemaRefs>
    <ds:schemaRef ds:uri="http://purl.org/dc/terms/"/>
    <ds:schemaRef ds:uri="http://schemas.microsoft.com/office/infopath/2007/PartnerControls"/>
    <ds:schemaRef ds:uri="http://schemas.microsoft.com/office/2006/documentManagement/types"/>
    <ds:schemaRef ds:uri="http://purl.org/dc/dcmitype/"/>
    <ds:schemaRef ds:uri="http://schemas.microsoft.com/office/2006/metadata/properties"/>
    <ds:schemaRef ds:uri="71af3243-3dd4-4a8d-8c0d-dd76da1f02a5"/>
    <ds:schemaRef ds:uri="http://www.w3.org/XML/1998/namespace"/>
    <ds:schemaRef ds:uri="http://purl.org/dc/elements/1.1/"/>
    <ds:schemaRef ds:uri="http://schemas.openxmlformats.org/package/2006/metadata/core-properties"/>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0</TotalTime>
  <Words>2214</Words>
  <Application>Microsoft Office PowerPoint</Application>
  <PresentationFormat>Widescreen</PresentationFormat>
  <Paragraphs>101</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 Black</vt:lpstr>
      <vt:lpstr>Calibri</vt:lpstr>
      <vt:lpstr>Cascadia Code</vt:lpstr>
      <vt:lpstr>Corbel</vt:lpstr>
      <vt:lpstr>Celestial</vt:lpstr>
      <vt:lpstr>Landslide Detection with Multi-Spectral Satellite Imagery and Image Segmentation</vt:lpstr>
      <vt:lpstr>Introduction</vt:lpstr>
      <vt:lpstr>Introduction</vt:lpstr>
      <vt:lpstr> </vt:lpstr>
      <vt:lpstr> </vt:lpstr>
      <vt:lpstr> Problem statement : </vt:lpstr>
      <vt:lpstr> </vt:lpstr>
      <vt:lpstr> </vt:lpstr>
      <vt:lpstr> </vt:lpstr>
      <vt:lpstr> </vt:lpstr>
      <vt:lpstr> </vt:lpstr>
      <vt:lpstr> </vt:lpstr>
      <vt:lpstr> </vt:lpstr>
      <vt:lpstr> </vt:lpstr>
      <vt:lpstr> </vt:lpstr>
      <vt:lpstr> </vt:lpstr>
      <vt:lpstr> </vt:lpstr>
      <vt:lpstr>Research Paper Status</vt:lpstr>
      <vt:lpstr>REFERENCES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2024-09-05T16:04:45Z</dcterms:created>
  <dcterms:modified xsi:type="dcterms:W3CDTF">2025-11-07T21:04:20Z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